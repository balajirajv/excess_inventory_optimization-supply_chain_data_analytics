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Roboto" panose="02000000000000000000" pitchFamily="2" charset="0"/>
      <p:regular r:id="rId22"/>
      <p:bold r:id="rId23"/>
      <p:italic r:id="rId24"/>
      <p:boldItalic r:id="rId25"/>
    </p:embeddedFont>
    <p:embeddedFont>
      <p:font typeface="Roboto Thin" panose="02000000000000000000" pitchFamily="2" charset="0"/>
      <p:regular r:id="rId26"/>
      <p:bold r:id="rId27"/>
      <p:italic r:id="rId28"/>
      <p:boldItalic r:id="rId29"/>
    </p:embeddedFont>
    <p:embeddedFont>
      <p:font typeface="Times" panose="02020603050405020304" pitchFamily="18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j25Of1ZgQFfcD4HJACH0roz5Z5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25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95a558b81_0_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same process that we follow in the current business process </a:t>
            </a:r>
            <a:endParaRPr/>
          </a:p>
        </p:txBody>
      </p:sp>
      <p:sp>
        <p:nvSpPr>
          <p:cNvPr id="187" name="Google Shape;187;g2c95a558b8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Initial preprocessing - Pick required columns for analysis, Standardize the Column names, Changes in particular columns ‘Due Date’, Going through the calculation to data formats.</a:t>
            </a:r>
            <a:endParaRPr/>
          </a:p>
        </p:txBody>
      </p:sp>
      <p:sp>
        <p:nvSpPr>
          <p:cNvPr id="199" name="Google Shape;1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ce6214d7e5_0_2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Initial preprocessing - Pick required columns for analysis, Standardize the Column names, Changes in particular columns ‘Due Date’, Going through the calculation to data formats.</a:t>
            </a:r>
            <a:endParaRPr/>
          </a:p>
        </p:txBody>
      </p:sp>
      <p:sp>
        <p:nvSpPr>
          <p:cNvPr id="209" name="Google Shape;209;g2ce6214d7e5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c965265df4_0_1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2c965265df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c965265df4_0_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2c965265df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cebee36290_1_1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g2cebee36290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c95a558b81_1_58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g2c95a558b81_1_5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c95a558b81_1_35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2c95a558b81_1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ce4dc960c2_1_2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2ce4dc960c2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"/>
          <p:cNvGrpSpPr/>
          <p:nvPr/>
        </p:nvGrpSpPr>
        <p:grpSpPr>
          <a:xfrm>
            <a:off x="-368586" y="2788841"/>
            <a:ext cx="787686" cy="3185042"/>
            <a:chOff x="0" y="-76200"/>
            <a:chExt cx="207456" cy="838859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207456" cy="762659"/>
            </a:xfrm>
            <a:custGeom>
              <a:avLst/>
              <a:gdLst/>
              <a:ahLst/>
              <a:cxnLst/>
              <a:rect l="l" t="t" r="r" b="b"/>
              <a:pathLst>
                <a:path w="207456" h="762659" extrusionOk="0">
                  <a:moveTo>
                    <a:pt x="0" y="0"/>
                  </a:moveTo>
                  <a:lnTo>
                    <a:pt x="207456" y="0"/>
                  </a:lnTo>
                  <a:lnTo>
                    <a:pt x="207456" y="762659"/>
                  </a:lnTo>
                  <a:lnTo>
                    <a:pt x="0" y="762659"/>
                  </a:lnTo>
                  <a:close/>
                </a:path>
              </a:pathLst>
            </a:custGeom>
            <a:solidFill>
              <a:srgbClr val="004AAD"/>
            </a:solidFill>
            <a:ln>
              <a:noFill/>
            </a:ln>
          </p:spPr>
        </p:sp>
        <p:sp>
          <p:nvSpPr>
            <p:cNvPr id="90" name="Google Shape;90;p1"/>
            <p:cNvSpPr txBox="1"/>
            <p:nvPr/>
          </p:nvSpPr>
          <p:spPr>
            <a:xfrm>
              <a:off x="0" y="-76200"/>
              <a:ext cx="207456" cy="8388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1"/>
          <p:cNvSpPr/>
          <p:nvPr/>
        </p:nvSpPr>
        <p:spPr>
          <a:xfrm>
            <a:off x="2153267" y="1028700"/>
            <a:ext cx="1513363" cy="1197158"/>
          </a:xfrm>
          <a:custGeom>
            <a:avLst/>
            <a:gdLst/>
            <a:ahLst/>
            <a:cxnLst/>
            <a:rect l="l" t="t" r="r" b="b"/>
            <a:pathLst>
              <a:path w="1513363" h="1197158" extrusionOk="0">
                <a:moveTo>
                  <a:pt x="0" y="0"/>
                </a:moveTo>
                <a:lnTo>
                  <a:pt x="1513363" y="0"/>
                </a:lnTo>
                <a:lnTo>
                  <a:pt x="1513363" y="1197158"/>
                </a:lnTo>
                <a:lnTo>
                  <a:pt x="0" y="11971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92" name="Google Shape;92;p1"/>
          <p:cNvGrpSpPr/>
          <p:nvPr/>
        </p:nvGrpSpPr>
        <p:grpSpPr>
          <a:xfrm rot="2700000">
            <a:off x="16550812" y="4107715"/>
            <a:ext cx="4998443" cy="5169060"/>
            <a:chOff x="0" y="-76200"/>
            <a:chExt cx="1316462" cy="1361398"/>
          </a:xfrm>
        </p:grpSpPr>
        <p:sp>
          <p:nvSpPr>
            <p:cNvPr id="93" name="Google Shape;93;p1"/>
            <p:cNvSpPr/>
            <p:nvPr/>
          </p:nvSpPr>
          <p:spPr>
            <a:xfrm>
              <a:off x="0" y="0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 extrusionOk="0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solidFill>
              <a:srgbClr val="7BA2D6"/>
            </a:solidFill>
            <a:ln>
              <a:noFill/>
            </a:ln>
          </p:spPr>
        </p:sp>
        <p:sp>
          <p:nvSpPr>
            <p:cNvPr id="94" name="Google Shape;94;p1"/>
            <p:cNvSpPr txBox="1"/>
            <p:nvPr/>
          </p:nvSpPr>
          <p:spPr>
            <a:xfrm>
              <a:off x="0" y="-76200"/>
              <a:ext cx="1316462" cy="13613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" name="Google Shape;95;p1"/>
          <p:cNvSpPr/>
          <p:nvPr/>
        </p:nvSpPr>
        <p:spPr>
          <a:xfrm>
            <a:off x="419100" y="363201"/>
            <a:ext cx="13962392" cy="9387034"/>
          </a:xfrm>
          <a:custGeom>
            <a:avLst/>
            <a:gdLst/>
            <a:ahLst/>
            <a:cxnLst/>
            <a:rect l="l" t="t" r="r" b="b"/>
            <a:pathLst>
              <a:path w="13962392" h="9387034" extrusionOk="0">
                <a:moveTo>
                  <a:pt x="0" y="0"/>
                </a:moveTo>
                <a:lnTo>
                  <a:pt x="13962392" y="0"/>
                </a:lnTo>
                <a:lnTo>
                  <a:pt x="13962392" y="9387034"/>
                </a:lnTo>
                <a:lnTo>
                  <a:pt x="0" y="93870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6000"/>
            </a:blip>
            <a:stretch>
              <a:fillRect l="-9917" t="-3749" b="-5174"/>
            </a:stretch>
          </a:blipFill>
          <a:ln>
            <a:noFill/>
          </a:ln>
        </p:spPr>
      </p:sp>
      <p:grpSp>
        <p:nvGrpSpPr>
          <p:cNvPr id="96" name="Google Shape;96;p1"/>
          <p:cNvGrpSpPr/>
          <p:nvPr/>
        </p:nvGrpSpPr>
        <p:grpSpPr>
          <a:xfrm rot="8100000">
            <a:off x="10689184" y="-4447822"/>
            <a:ext cx="7589194" cy="9826626"/>
            <a:chOff x="0" y="-76200"/>
            <a:chExt cx="1998800" cy="2588082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1998800" cy="2511882"/>
            </a:xfrm>
            <a:custGeom>
              <a:avLst/>
              <a:gdLst/>
              <a:ahLst/>
              <a:cxnLst/>
              <a:rect l="l" t="t" r="r" b="b"/>
              <a:pathLst>
                <a:path w="1998800" h="2511882" extrusionOk="0">
                  <a:moveTo>
                    <a:pt x="0" y="0"/>
                  </a:moveTo>
                  <a:lnTo>
                    <a:pt x="1998800" y="0"/>
                  </a:lnTo>
                  <a:lnTo>
                    <a:pt x="1998800" y="2511882"/>
                  </a:lnTo>
                  <a:lnTo>
                    <a:pt x="0" y="2511882"/>
                  </a:lnTo>
                  <a:close/>
                </a:path>
              </a:pathLst>
            </a:custGeom>
            <a:solidFill>
              <a:srgbClr val="0C57BD"/>
            </a:solidFill>
            <a:ln>
              <a:noFill/>
            </a:ln>
          </p:spPr>
        </p:sp>
        <p:sp>
          <p:nvSpPr>
            <p:cNvPr id="98" name="Google Shape;98;p1"/>
            <p:cNvSpPr txBox="1"/>
            <p:nvPr/>
          </p:nvSpPr>
          <p:spPr>
            <a:xfrm>
              <a:off x="0" y="-76200"/>
              <a:ext cx="1998800" cy="25880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"/>
          <p:cNvGrpSpPr/>
          <p:nvPr/>
        </p:nvGrpSpPr>
        <p:grpSpPr>
          <a:xfrm rot="8100000">
            <a:off x="7457213" y="6550053"/>
            <a:ext cx="9653057" cy="9113862"/>
            <a:chOff x="0" y="-76200"/>
            <a:chExt cx="2542369" cy="2400359"/>
          </a:xfrm>
        </p:grpSpPr>
        <p:sp>
          <p:nvSpPr>
            <p:cNvPr id="100" name="Google Shape;100;p1"/>
            <p:cNvSpPr/>
            <p:nvPr/>
          </p:nvSpPr>
          <p:spPr>
            <a:xfrm>
              <a:off x="0" y="0"/>
              <a:ext cx="2542369" cy="2324159"/>
            </a:xfrm>
            <a:custGeom>
              <a:avLst/>
              <a:gdLst/>
              <a:ahLst/>
              <a:cxnLst/>
              <a:rect l="l" t="t" r="r" b="b"/>
              <a:pathLst>
                <a:path w="2542369" h="2324159" extrusionOk="0">
                  <a:moveTo>
                    <a:pt x="0" y="0"/>
                  </a:moveTo>
                  <a:lnTo>
                    <a:pt x="2542369" y="0"/>
                  </a:lnTo>
                  <a:lnTo>
                    <a:pt x="2542369" y="2324159"/>
                  </a:lnTo>
                  <a:lnTo>
                    <a:pt x="0" y="2324159"/>
                  </a:lnTo>
                  <a:close/>
                </a:path>
              </a:pathLst>
            </a:custGeom>
            <a:solidFill>
              <a:srgbClr val="0F0774">
                <a:alpha val="91764"/>
              </a:srgbClr>
            </a:solidFill>
            <a:ln>
              <a:noFill/>
            </a:ln>
          </p:spPr>
        </p:sp>
        <p:sp>
          <p:nvSpPr>
            <p:cNvPr id="101" name="Google Shape;101;p1"/>
            <p:cNvSpPr txBox="1"/>
            <p:nvPr/>
          </p:nvSpPr>
          <p:spPr>
            <a:xfrm>
              <a:off x="0" y="-76200"/>
              <a:ext cx="2542369" cy="24003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"/>
          <p:cNvSpPr txBox="1"/>
          <p:nvPr/>
        </p:nvSpPr>
        <p:spPr>
          <a:xfrm>
            <a:off x="649321" y="2365267"/>
            <a:ext cx="11532130" cy="213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96" b="1" i="0" u="none" strike="noStrike" cap="none">
                <a:solidFill>
                  <a:srgbClr val="004AAD"/>
                </a:solidFill>
                <a:latin typeface="Times"/>
                <a:ea typeface="Times"/>
                <a:cs typeface="Times"/>
                <a:sym typeface="Times"/>
              </a:rPr>
              <a:t>TERADYNE​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1636793" y="4058419"/>
            <a:ext cx="8595745" cy="7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7" b="0" i="0" u="none" strike="noStrike" cap="none">
                <a:solidFill>
                  <a:srgbClr val="004AA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Excess Inventory Process Optimization​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13580029" y="8885175"/>
            <a:ext cx="2903700" cy="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67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Team 441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2"/>
          <p:cNvGrpSpPr/>
          <p:nvPr/>
        </p:nvGrpSpPr>
        <p:grpSpPr>
          <a:xfrm>
            <a:off x="-62" y="-289399"/>
            <a:ext cx="18288122" cy="10576390"/>
            <a:chOff x="0" y="-76200"/>
            <a:chExt cx="4816593" cy="2785533"/>
          </a:xfrm>
        </p:grpSpPr>
        <p:sp>
          <p:nvSpPr>
            <p:cNvPr id="110" name="Google Shape;110;p2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1D8F6">
                <a:alpha val="45490"/>
              </a:srgbClr>
            </a:solidFill>
            <a:ln>
              <a:noFill/>
            </a:ln>
          </p:spPr>
        </p:sp>
        <p:sp>
          <p:nvSpPr>
            <p:cNvPr id="111" name="Google Shape;111;p2"/>
            <p:cNvSpPr txBox="1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2"/>
          <p:cNvSpPr txBox="1"/>
          <p:nvPr/>
        </p:nvSpPr>
        <p:spPr>
          <a:xfrm>
            <a:off x="853316" y="-195230"/>
            <a:ext cx="137640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Agenda</a:t>
            </a:r>
            <a:endParaRPr/>
          </a:p>
        </p:txBody>
      </p:sp>
      <p:grpSp>
        <p:nvGrpSpPr>
          <p:cNvPr id="113" name="Google Shape;113;p2"/>
          <p:cNvGrpSpPr/>
          <p:nvPr/>
        </p:nvGrpSpPr>
        <p:grpSpPr>
          <a:xfrm rot="2700000">
            <a:off x="15949841" y="3134516"/>
            <a:ext cx="5170455" cy="5540296"/>
            <a:chOff x="0" y="-76200"/>
            <a:chExt cx="1990112" cy="2132465"/>
          </a:xfrm>
        </p:grpSpPr>
        <p:sp>
          <p:nvSpPr>
            <p:cNvPr id="114" name="Google Shape;114;p2"/>
            <p:cNvSpPr/>
            <p:nvPr/>
          </p:nvSpPr>
          <p:spPr>
            <a:xfrm>
              <a:off x="0" y="0"/>
              <a:ext cx="1990112" cy="2056265"/>
            </a:xfrm>
            <a:custGeom>
              <a:avLst/>
              <a:gdLst/>
              <a:ahLst/>
              <a:cxnLst/>
              <a:rect l="l" t="t" r="r" b="b"/>
              <a:pathLst>
                <a:path w="1990112" h="2056265" extrusionOk="0">
                  <a:moveTo>
                    <a:pt x="0" y="0"/>
                  </a:moveTo>
                  <a:lnTo>
                    <a:pt x="1990112" y="0"/>
                  </a:lnTo>
                  <a:lnTo>
                    <a:pt x="1990112" y="2056265"/>
                  </a:lnTo>
                  <a:lnTo>
                    <a:pt x="0" y="2056265"/>
                  </a:lnTo>
                  <a:close/>
                </a:path>
              </a:pathLst>
            </a:custGeom>
            <a:solidFill>
              <a:srgbClr val="7BA2D6"/>
            </a:solidFill>
            <a:ln>
              <a:noFill/>
            </a:ln>
          </p:spPr>
        </p:sp>
        <p:sp>
          <p:nvSpPr>
            <p:cNvPr id="115" name="Google Shape;115;p2"/>
            <p:cNvSpPr txBox="1"/>
            <p:nvPr/>
          </p:nvSpPr>
          <p:spPr>
            <a:xfrm>
              <a:off x="0" y="-76200"/>
              <a:ext cx="1990112" cy="21324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p2"/>
          <p:cNvGrpSpPr/>
          <p:nvPr/>
        </p:nvGrpSpPr>
        <p:grpSpPr>
          <a:xfrm rot="8100000">
            <a:off x="13897341" y="-3396904"/>
            <a:ext cx="4298664" cy="6598810"/>
            <a:chOff x="0" y="-76200"/>
            <a:chExt cx="1654560" cy="2539888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1654560" cy="2463688"/>
            </a:xfrm>
            <a:custGeom>
              <a:avLst/>
              <a:gdLst/>
              <a:ahLst/>
              <a:cxnLst/>
              <a:rect l="l" t="t" r="r" b="b"/>
              <a:pathLst>
                <a:path w="1654560" h="2463688" extrusionOk="0">
                  <a:moveTo>
                    <a:pt x="0" y="0"/>
                  </a:moveTo>
                  <a:lnTo>
                    <a:pt x="1654560" y="0"/>
                  </a:lnTo>
                  <a:lnTo>
                    <a:pt x="1654560" y="2463688"/>
                  </a:lnTo>
                  <a:lnTo>
                    <a:pt x="0" y="2463688"/>
                  </a:lnTo>
                  <a:close/>
                </a:path>
              </a:pathLst>
            </a:custGeom>
            <a:solidFill>
              <a:srgbClr val="0C57BD"/>
            </a:solidFill>
            <a:ln>
              <a:noFill/>
            </a:ln>
          </p:spPr>
        </p:sp>
        <p:sp>
          <p:nvSpPr>
            <p:cNvPr id="118" name="Google Shape;118;p2"/>
            <p:cNvSpPr txBox="1"/>
            <p:nvPr/>
          </p:nvSpPr>
          <p:spPr>
            <a:xfrm>
              <a:off x="0" y="-76200"/>
              <a:ext cx="1654560" cy="2539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2"/>
          <p:cNvGrpSpPr/>
          <p:nvPr/>
        </p:nvGrpSpPr>
        <p:grpSpPr>
          <a:xfrm rot="8100000">
            <a:off x="8837442" y="8093613"/>
            <a:ext cx="8823272" cy="6218417"/>
            <a:chOff x="0" y="-76200"/>
            <a:chExt cx="3396085" cy="2393474"/>
          </a:xfrm>
        </p:grpSpPr>
        <p:sp>
          <p:nvSpPr>
            <p:cNvPr id="120" name="Google Shape;120;p2"/>
            <p:cNvSpPr/>
            <p:nvPr/>
          </p:nvSpPr>
          <p:spPr>
            <a:xfrm>
              <a:off x="0" y="0"/>
              <a:ext cx="3396085" cy="2317274"/>
            </a:xfrm>
            <a:custGeom>
              <a:avLst/>
              <a:gdLst/>
              <a:ahLst/>
              <a:cxnLst/>
              <a:rect l="l" t="t" r="r" b="b"/>
              <a:pathLst>
                <a:path w="3396085" h="2317274" extrusionOk="0">
                  <a:moveTo>
                    <a:pt x="0" y="0"/>
                  </a:moveTo>
                  <a:lnTo>
                    <a:pt x="3396085" y="0"/>
                  </a:lnTo>
                  <a:lnTo>
                    <a:pt x="3396085" y="2317274"/>
                  </a:lnTo>
                  <a:lnTo>
                    <a:pt x="0" y="2317274"/>
                  </a:lnTo>
                  <a:close/>
                </a:path>
              </a:pathLst>
            </a:custGeom>
            <a:solidFill>
              <a:srgbClr val="0F0774">
                <a:alpha val="91764"/>
              </a:srgbClr>
            </a:solidFill>
            <a:ln>
              <a:noFill/>
            </a:ln>
          </p:spPr>
        </p:sp>
        <p:sp>
          <p:nvSpPr>
            <p:cNvPr id="121" name="Google Shape;121;p2"/>
            <p:cNvSpPr txBox="1"/>
            <p:nvPr/>
          </p:nvSpPr>
          <p:spPr>
            <a:xfrm>
              <a:off x="0" y="-76200"/>
              <a:ext cx="3396085" cy="23934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2"/>
          <p:cNvSpPr txBox="1"/>
          <p:nvPr/>
        </p:nvSpPr>
        <p:spPr>
          <a:xfrm>
            <a:off x="736294" y="1418207"/>
            <a:ext cx="12400500" cy="8582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55651" marR="0" lvl="1" indent="-365125" algn="l" rtl="0">
              <a:lnSpc>
                <a:spcPct val="169000"/>
              </a:lnSpc>
              <a:spcBef>
                <a:spcPts val="0"/>
              </a:spcBef>
              <a:spcAft>
                <a:spcPts val="0"/>
              </a:spcAft>
              <a:buClr>
                <a:srgbClr val="0F0774"/>
              </a:buClr>
              <a:buSzPts val="3300"/>
              <a:buFont typeface="Arial"/>
              <a:buChar char="•"/>
            </a:pPr>
            <a:r>
              <a:rPr lang="en-US" sz="2900" b="1" i="0" u="none" strike="noStrike" cap="none" dirty="0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Project Background and Business Scope </a:t>
            </a:r>
            <a:endParaRPr sz="2900" dirty="0"/>
          </a:p>
          <a:p>
            <a:pPr marL="755651" marR="0" lvl="1" indent="-365125" algn="l" rtl="0">
              <a:lnSpc>
                <a:spcPct val="169000"/>
              </a:lnSpc>
              <a:spcBef>
                <a:spcPts val="0"/>
              </a:spcBef>
              <a:spcAft>
                <a:spcPts val="0"/>
              </a:spcAft>
              <a:buClr>
                <a:srgbClr val="0F0774"/>
              </a:buClr>
              <a:buSzPts val="3300"/>
              <a:buFont typeface="Arial"/>
              <a:buChar char="•"/>
            </a:pPr>
            <a:r>
              <a:rPr lang="en-US" sz="2900" b="1" i="0" u="none" strike="noStrike" cap="none" dirty="0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Project Timelines </a:t>
            </a:r>
            <a:endParaRPr sz="2900" dirty="0"/>
          </a:p>
          <a:p>
            <a:pPr marL="755651" marR="0" lvl="1" indent="-365125" algn="l" rtl="0">
              <a:lnSpc>
                <a:spcPct val="169000"/>
              </a:lnSpc>
              <a:spcBef>
                <a:spcPts val="0"/>
              </a:spcBef>
              <a:spcAft>
                <a:spcPts val="0"/>
              </a:spcAft>
              <a:buClr>
                <a:srgbClr val="0F0774"/>
              </a:buClr>
              <a:buSzPts val="3300"/>
              <a:buFont typeface="Arial"/>
              <a:buChar char="•"/>
            </a:pPr>
            <a:r>
              <a:rPr lang="en-US" sz="2900" b="1" i="0" u="none" strike="noStrike" cap="none" dirty="0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Current &amp; Suggested Process </a:t>
            </a:r>
            <a:endParaRPr sz="2900" b="1" dirty="0">
              <a:solidFill>
                <a:srgbClr val="0F0774"/>
              </a:solidFill>
              <a:latin typeface="Times"/>
              <a:ea typeface="Times"/>
              <a:cs typeface="Times"/>
              <a:sym typeface="Times"/>
            </a:endParaRPr>
          </a:p>
          <a:p>
            <a:pPr marL="755651" marR="0" lvl="1" indent="-365125" algn="l" rtl="0">
              <a:lnSpc>
                <a:spcPct val="169000"/>
              </a:lnSpc>
              <a:spcBef>
                <a:spcPts val="0"/>
              </a:spcBef>
              <a:spcAft>
                <a:spcPts val="0"/>
              </a:spcAft>
              <a:buClr>
                <a:srgbClr val="0F0774"/>
              </a:buClr>
              <a:buSzPts val="3300"/>
              <a:buFont typeface="Times"/>
              <a:buChar char="•"/>
            </a:pPr>
            <a:r>
              <a:rPr lang="en-US" sz="2900" b="1" dirty="0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Business Process</a:t>
            </a:r>
            <a:endParaRPr sz="2900" b="1" dirty="0">
              <a:solidFill>
                <a:srgbClr val="0F0774"/>
              </a:solidFill>
              <a:latin typeface="Times"/>
              <a:ea typeface="Times"/>
              <a:cs typeface="Times"/>
              <a:sym typeface="Times"/>
            </a:endParaRPr>
          </a:p>
          <a:p>
            <a:pPr marL="755651" marR="0" lvl="1" indent="-365125" algn="l" rtl="0">
              <a:lnSpc>
                <a:spcPct val="169000"/>
              </a:lnSpc>
              <a:spcBef>
                <a:spcPts val="0"/>
              </a:spcBef>
              <a:spcAft>
                <a:spcPts val="0"/>
              </a:spcAft>
              <a:buClr>
                <a:srgbClr val="0F0774"/>
              </a:buClr>
              <a:buSzPts val="3300"/>
              <a:buFont typeface="Times"/>
              <a:buChar char="•"/>
            </a:pPr>
            <a:r>
              <a:rPr lang="en-US" sz="2900" b="1" dirty="0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Visualizations</a:t>
            </a:r>
            <a:endParaRPr sz="2900" b="1" dirty="0">
              <a:solidFill>
                <a:srgbClr val="0F0774"/>
              </a:solidFill>
              <a:latin typeface="Times"/>
              <a:ea typeface="Times"/>
              <a:cs typeface="Times"/>
              <a:sym typeface="Times"/>
            </a:endParaRPr>
          </a:p>
          <a:p>
            <a:pPr marL="755651" marR="0" lvl="1" indent="-365125" algn="l" rtl="0">
              <a:lnSpc>
                <a:spcPct val="169000"/>
              </a:lnSpc>
              <a:spcBef>
                <a:spcPts val="0"/>
              </a:spcBef>
              <a:spcAft>
                <a:spcPts val="0"/>
              </a:spcAft>
              <a:buClr>
                <a:srgbClr val="0F0774"/>
              </a:buClr>
              <a:buSzPts val="3300"/>
              <a:buFont typeface="Times"/>
              <a:buChar char="•"/>
            </a:pPr>
            <a:r>
              <a:rPr lang="en-US" sz="2900" b="1" dirty="0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Analysis</a:t>
            </a:r>
            <a:endParaRPr sz="2900" b="1" dirty="0">
              <a:solidFill>
                <a:srgbClr val="0F0774"/>
              </a:solidFill>
              <a:latin typeface="Times"/>
              <a:ea typeface="Times"/>
              <a:cs typeface="Times"/>
              <a:sym typeface="Times"/>
            </a:endParaRPr>
          </a:p>
          <a:p>
            <a:pPr marL="755651" marR="0" lvl="1" indent="-365125" algn="l" rtl="0">
              <a:lnSpc>
                <a:spcPct val="169000"/>
              </a:lnSpc>
              <a:spcBef>
                <a:spcPts val="0"/>
              </a:spcBef>
              <a:spcAft>
                <a:spcPts val="0"/>
              </a:spcAft>
              <a:buClr>
                <a:srgbClr val="0F0774"/>
              </a:buClr>
              <a:buSzPts val="3300"/>
              <a:buFont typeface="Times"/>
              <a:buChar char="•"/>
            </a:pPr>
            <a:r>
              <a:rPr lang="en-US" sz="2900" b="1" dirty="0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Results and Findings</a:t>
            </a:r>
            <a:endParaRPr sz="2900" b="1" dirty="0">
              <a:solidFill>
                <a:srgbClr val="0F0774"/>
              </a:solidFill>
              <a:latin typeface="Times"/>
              <a:ea typeface="Times"/>
              <a:cs typeface="Times"/>
              <a:sym typeface="Times"/>
            </a:endParaRPr>
          </a:p>
          <a:p>
            <a:pPr marL="755651" marR="0" lvl="1" indent="-365125" algn="l" rtl="0">
              <a:lnSpc>
                <a:spcPct val="169000"/>
              </a:lnSpc>
              <a:spcBef>
                <a:spcPts val="0"/>
              </a:spcBef>
              <a:spcAft>
                <a:spcPts val="0"/>
              </a:spcAft>
              <a:buClr>
                <a:srgbClr val="0F0774"/>
              </a:buClr>
              <a:buSzPts val="3300"/>
              <a:buFont typeface="Times"/>
              <a:buChar char="•"/>
            </a:pPr>
            <a:r>
              <a:rPr lang="en-US" sz="2900" b="1" dirty="0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Root Cause Analysis</a:t>
            </a:r>
            <a:endParaRPr sz="2900" b="1" dirty="0">
              <a:solidFill>
                <a:srgbClr val="0F0774"/>
              </a:solidFill>
              <a:latin typeface="Times"/>
              <a:ea typeface="Times"/>
              <a:cs typeface="Times"/>
              <a:sym typeface="Times"/>
            </a:endParaRPr>
          </a:p>
          <a:p>
            <a:pPr marL="755651" marR="0" lvl="1" indent="-365125" algn="l" rtl="0">
              <a:lnSpc>
                <a:spcPct val="169000"/>
              </a:lnSpc>
              <a:spcBef>
                <a:spcPts val="0"/>
              </a:spcBef>
              <a:spcAft>
                <a:spcPts val="0"/>
              </a:spcAft>
              <a:buClr>
                <a:srgbClr val="0F0774"/>
              </a:buClr>
              <a:buSzPts val="3300"/>
              <a:buFont typeface="Times"/>
              <a:buChar char="•"/>
            </a:pPr>
            <a:r>
              <a:rPr lang="en-US" sz="2900" b="1" dirty="0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Our Recommendations</a:t>
            </a:r>
            <a:endParaRPr sz="2900" b="1" dirty="0">
              <a:solidFill>
                <a:srgbClr val="0F0774"/>
              </a:solidFill>
              <a:latin typeface="Times"/>
              <a:ea typeface="Times"/>
              <a:cs typeface="Times"/>
              <a:sym typeface="Times"/>
            </a:endParaRPr>
          </a:p>
          <a:p>
            <a:pPr marL="755651" marR="0" lvl="1" indent="-365125" algn="l" rtl="0">
              <a:lnSpc>
                <a:spcPct val="169000"/>
              </a:lnSpc>
              <a:spcBef>
                <a:spcPts val="0"/>
              </a:spcBef>
              <a:spcAft>
                <a:spcPts val="0"/>
              </a:spcAft>
              <a:buClr>
                <a:srgbClr val="0F0774"/>
              </a:buClr>
              <a:buSzPts val="3300"/>
              <a:buFont typeface="Times"/>
              <a:buChar char="•"/>
            </a:pPr>
            <a:r>
              <a:rPr lang="en-US" sz="2900" b="1" dirty="0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What We Learnt….</a:t>
            </a:r>
            <a:endParaRPr sz="2900" b="1" dirty="0">
              <a:solidFill>
                <a:srgbClr val="0F0774"/>
              </a:solidFill>
              <a:latin typeface="Times"/>
              <a:ea typeface="Times"/>
              <a:cs typeface="Times"/>
              <a:sym typeface="Times"/>
            </a:endParaRPr>
          </a:p>
          <a:p>
            <a:pPr marL="755651" marR="0" lvl="1" indent="-365125" algn="l" rtl="0">
              <a:lnSpc>
                <a:spcPct val="169000"/>
              </a:lnSpc>
              <a:spcBef>
                <a:spcPts val="0"/>
              </a:spcBef>
              <a:spcAft>
                <a:spcPts val="0"/>
              </a:spcAft>
              <a:buClr>
                <a:srgbClr val="0F0774"/>
              </a:buClr>
              <a:buSzPts val="3300"/>
              <a:buFont typeface="Arial"/>
              <a:buChar char="•"/>
            </a:pPr>
            <a:r>
              <a:rPr lang="en-US" sz="2900" b="1" i="0" u="none" strike="noStrike" cap="none" dirty="0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Q&amp;A</a:t>
            </a:r>
            <a:endParaRPr sz="2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3"/>
          <p:cNvGrpSpPr/>
          <p:nvPr/>
        </p:nvGrpSpPr>
        <p:grpSpPr>
          <a:xfrm>
            <a:off x="0" y="-289322"/>
            <a:ext cx="18288000" cy="10576322"/>
            <a:chOff x="0" y="-76200"/>
            <a:chExt cx="4816593" cy="2785533"/>
          </a:xfrm>
        </p:grpSpPr>
        <p:sp>
          <p:nvSpPr>
            <p:cNvPr id="128" name="Google Shape;128;p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1D8F6">
                <a:alpha val="45490"/>
              </a:srgbClr>
            </a:solidFill>
            <a:ln>
              <a:noFill/>
            </a:ln>
          </p:spPr>
        </p:sp>
        <p:sp>
          <p:nvSpPr>
            <p:cNvPr id="129" name="Google Shape;129;p3"/>
            <p:cNvSpPr txBox="1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3"/>
          <p:cNvSpPr/>
          <p:nvPr/>
        </p:nvSpPr>
        <p:spPr>
          <a:xfrm>
            <a:off x="598662" y="2866989"/>
            <a:ext cx="7703849" cy="1438111"/>
          </a:xfrm>
          <a:custGeom>
            <a:avLst/>
            <a:gdLst/>
            <a:ahLst/>
            <a:cxnLst/>
            <a:rect l="l" t="t" r="r" b="b"/>
            <a:pathLst>
              <a:path w="7703849" h="1438111" extrusionOk="0">
                <a:moveTo>
                  <a:pt x="0" y="0"/>
                </a:moveTo>
                <a:lnTo>
                  <a:pt x="7703849" y="0"/>
                </a:lnTo>
                <a:lnTo>
                  <a:pt x="7703849" y="1438111"/>
                </a:lnTo>
                <a:lnTo>
                  <a:pt x="0" y="14381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29043" b="-185298"/>
            </a:stretch>
          </a:blipFill>
          <a:ln>
            <a:noFill/>
          </a:ln>
        </p:spPr>
      </p:sp>
      <p:sp>
        <p:nvSpPr>
          <p:cNvPr id="131" name="Google Shape;131;p3"/>
          <p:cNvSpPr/>
          <p:nvPr/>
        </p:nvSpPr>
        <p:spPr>
          <a:xfrm>
            <a:off x="598662" y="3302345"/>
            <a:ext cx="8303299" cy="5955955"/>
          </a:xfrm>
          <a:custGeom>
            <a:avLst/>
            <a:gdLst/>
            <a:ahLst/>
            <a:cxnLst/>
            <a:rect l="l" t="t" r="r" b="b"/>
            <a:pathLst>
              <a:path w="8303299" h="5955955" extrusionOk="0">
                <a:moveTo>
                  <a:pt x="0" y="0"/>
                </a:moveTo>
                <a:lnTo>
                  <a:pt x="8303299" y="0"/>
                </a:lnTo>
                <a:lnTo>
                  <a:pt x="8303299" y="5955955"/>
                </a:lnTo>
                <a:lnTo>
                  <a:pt x="0" y="5955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r="-73792"/>
            </a:stretch>
          </a:blipFill>
          <a:ln>
            <a:noFill/>
          </a:ln>
        </p:spPr>
      </p:sp>
      <p:sp>
        <p:nvSpPr>
          <p:cNvPr id="132" name="Google Shape;132;p3"/>
          <p:cNvSpPr/>
          <p:nvPr/>
        </p:nvSpPr>
        <p:spPr>
          <a:xfrm rot="10800000">
            <a:off x="10047291" y="8254213"/>
            <a:ext cx="7947822" cy="1483654"/>
          </a:xfrm>
          <a:custGeom>
            <a:avLst/>
            <a:gdLst/>
            <a:ahLst/>
            <a:cxnLst/>
            <a:rect l="l" t="t" r="r" b="b"/>
            <a:pathLst>
              <a:path w="7947822" h="1483654" extrusionOk="0">
                <a:moveTo>
                  <a:pt x="0" y="0"/>
                </a:moveTo>
                <a:lnTo>
                  <a:pt x="7947822" y="0"/>
                </a:lnTo>
                <a:lnTo>
                  <a:pt x="7947822" y="1483655"/>
                </a:lnTo>
                <a:lnTo>
                  <a:pt x="0" y="14836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29043" b="-185298"/>
            </a:stretch>
          </a:blipFill>
          <a:ln>
            <a:noFill/>
          </a:ln>
        </p:spPr>
      </p:sp>
      <p:sp>
        <p:nvSpPr>
          <p:cNvPr id="133" name="Google Shape;133;p3"/>
          <p:cNvSpPr/>
          <p:nvPr/>
        </p:nvSpPr>
        <p:spPr>
          <a:xfrm rot="10800000">
            <a:off x="9428857" y="3144150"/>
            <a:ext cx="8566256" cy="6144574"/>
          </a:xfrm>
          <a:custGeom>
            <a:avLst/>
            <a:gdLst/>
            <a:ahLst/>
            <a:cxnLst/>
            <a:rect l="l" t="t" r="r" b="b"/>
            <a:pathLst>
              <a:path w="8566256" h="6144574" extrusionOk="0">
                <a:moveTo>
                  <a:pt x="0" y="0"/>
                </a:moveTo>
                <a:lnTo>
                  <a:pt x="8566256" y="0"/>
                </a:lnTo>
                <a:lnTo>
                  <a:pt x="8566256" y="6144574"/>
                </a:lnTo>
                <a:lnTo>
                  <a:pt x="0" y="6144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r="-73792"/>
            </a:stretch>
          </a:blipFill>
          <a:ln>
            <a:noFill/>
          </a:ln>
        </p:spPr>
      </p:sp>
      <p:sp>
        <p:nvSpPr>
          <p:cNvPr id="134" name="Google Shape;134;p3"/>
          <p:cNvSpPr txBox="1"/>
          <p:nvPr/>
        </p:nvSpPr>
        <p:spPr>
          <a:xfrm>
            <a:off x="598662" y="483728"/>
            <a:ext cx="16903487" cy="1405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87" b="1" i="0" u="none" strike="noStrike" cap="none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Project Background and Business Scope​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839670" y="4743748"/>
            <a:ext cx="7821300" cy="3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0774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Teradyne's SBM group upgrading excess inventory approval portal</a:t>
            </a:r>
            <a:endParaRPr sz="2800">
              <a:solidFill>
                <a:srgbClr val="0F07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0774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Reliance on metrics and subjective judgments may introduce bias.</a:t>
            </a:r>
            <a:endParaRPr sz="2800">
              <a:solidFill>
                <a:srgbClr val="0F07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0774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Historical demand volatility causing unwanted inventory</a:t>
            </a:r>
            <a:endParaRPr sz="2800">
              <a:solidFill>
                <a:srgbClr val="0F07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0774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on targets and finances</a:t>
            </a:r>
            <a:endParaRPr sz="2800">
              <a:solidFill>
                <a:srgbClr val="0F07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F07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598662" y="3347919"/>
            <a:ext cx="8303299" cy="115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Background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9163050" y="3347919"/>
            <a:ext cx="8566256" cy="115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Scope 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9794726" y="4720498"/>
            <a:ext cx="7834500" cy="40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-407924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F0774"/>
              </a:buClr>
              <a:buSzPts val="2824"/>
              <a:buFont typeface="Times"/>
              <a:buChar char="●"/>
            </a:pPr>
            <a:r>
              <a:rPr lang="en-US" sz="2824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Algorithm modification</a:t>
            </a:r>
            <a:endParaRPr sz="2824">
              <a:solidFill>
                <a:srgbClr val="0F0774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-407924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F0774"/>
              </a:buClr>
              <a:buSzPts val="2824"/>
              <a:buFont typeface="Times"/>
              <a:buChar char="●"/>
            </a:pPr>
            <a:r>
              <a:rPr lang="en-US" sz="2824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Mitigate financial risk</a:t>
            </a:r>
            <a:endParaRPr sz="2824">
              <a:solidFill>
                <a:srgbClr val="0F0774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-407924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F0774"/>
              </a:buClr>
              <a:buSzPts val="2824"/>
              <a:buFont typeface="Times"/>
              <a:buChar char="●"/>
            </a:pPr>
            <a:r>
              <a:rPr lang="en-US" sz="2824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Informed decision-making</a:t>
            </a:r>
            <a:endParaRPr sz="2824">
              <a:solidFill>
                <a:srgbClr val="0F0774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-407924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F0774"/>
              </a:buClr>
              <a:buSzPts val="2824"/>
              <a:buFont typeface="Times"/>
              <a:buChar char="●"/>
            </a:pPr>
            <a:r>
              <a:rPr lang="en-US" sz="2824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Excess inventory reduction</a:t>
            </a:r>
            <a:endParaRPr sz="2824">
              <a:solidFill>
                <a:srgbClr val="0F0774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-407924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F0774"/>
              </a:buClr>
              <a:buSzPts val="2824"/>
              <a:buFont typeface="Times"/>
              <a:buChar char="●"/>
            </a:pPr>
            <a:r>
              <a:rPr lang="en-US" sz="2824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Iterative process improvement</a:t>
            </a:r>
            <a:endParaRPr sz="2824">
              <a:solidFill>
                <a:srgbClr val="0F0774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0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24">
              <a:solidFill>
                <a:srgbClr val="0F0774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0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24">
              <a:solidFill>
                <a:srgbClr val="0F0774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5"/>
          <p:cNvGrpSpPr/>
          <p:nvPr/>
        </p:nvGrpSpPr>
        <p:grpSpPr>
          <a:xfrm>
            <a:off x="0" y="-289322"/>
            <a:ext cx="18288000" cy="10576322"/>
            <a:chOff x="0" y="-76200"/>
            <a:chExt cx="4816593" cy="2785533"/>
          </a:xfrm>
        </p:grpSpPr>
        <p:sp>
          <p:nvSpPr>
            <p:cNvPr id="144" name="Google Shape;144;p5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1D8F6">
                <a:alpha val="45490"/>
              </a:srgbClr>
            </a:solidFill>
            <a:ln>
              <a:noFill/>
            </a:ln>
          </p:spPr>
        </p:sp>
        <p:sp>
          <p:nvSpPr>
            <p:cNvPr id="145" name="Google Shape;145;p5"/>
            <p:cNvSpPr txBox="1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5"/>
          <p:cNvSpPr/>
          <p:nvPr/>
        </p:nvSpPr>
        <p:spPr>
          <a:xfrm>
            <a:off x="3052036" y="1956292"/>
            <a:ext cx="12602944" cy="7843253"/>
          </a:xfrm>
          <a:custGeom>
            <a:avLst/>
            <a:gdLst/>
            <a:ahLst/>
            <a:cxnLst/>
            <a:rect l="l" t="t" r="r" b="b"/>
            <a:pathLst>
              <a:path w="12602944" h="7843253" extrusionOk="0">
                <a:moveTo>
                  <a:pt x="0" y="0"/>
                </a:moveTo>
                <a:lnTo>
                  <a:pt x="12602944" y="0"/>
                </a:lnTo>
                <a:lnTo>
                  <a:pt x="12602944" y="7843253"/>
                </a:lnTo>
                <a:lnTo>
                  <a:pt x="0" y="78432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7" name="Google Shape;147;p5"/>
          <p:cNvSpPr/>
          <p:nvPr/>
        </p:nvSpPr>
        <p:spPr>
          <a:xfrm>
            <a:off x="3118711" y="2182603"/>
            <a:ext cx="613666" cy="575731"/>
          </a:xfrm>
          <a:custGeom>
            <a:avLst/>
            <a:gdLst/>
            <a:ahLst/>
            <a:cxnLst/>
            <a:rect l="l" t="t" r="r" b="b"/>
            <a:pathLst>
              <a:path w="613666" h="575731" extrusionOk="0">
                <a:moveTo>
                  <a:pt x="0" y="0"/>
                </a:moveTo>
                <a:lnTo>
                  <a:pt x="613666" y="0"/>
                </a:lnTo>
                <a:lnTo>
                  <a:pt x="613666" y="575731"/>
                </a:lnTo>
                <a:lnTo>
                  <a:pt x="0" y="575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8" name="Google Shape;148;p5"/>
          <p:cNvSpPr txBox="1"/>
          <p:nvPr/>
        </p:nvSpPr>
        <p:spPr>
          <a:xfrm>
            <a:off x="4835118" y="0"/>
            <a:ext cx="8617764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Project Timeline​</a:t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3855820" y="3631149"/>
            <a:ext cx="613666" cy="575731"/>
          </a:xfrm>
          <a:custGeom>
            <a:avLst/>
            <a:gdLst/>
            <a:ahLst/>
            <a:cxnLst/>
            <a:rect l="l" t="t" r="r" b="b"/>
            <a:pathLst>
              <a:path w="613666" h="575731" extrusionOk="0">
                <a:moveTo>
                  <a:pt x="0" y="0"/>
                </a:moveTo>
                <a:lnTo>
                  <a:pt x="613666" y="0"/>
                </a:lnTo>
                <a:lnTo>
                  <a:pt x="613666" y="575730"/>
                </a:lnTo>
                <a:lnTo>
                  <a:pt x="0" y="5757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0" name="Google Shape;150;p5"/>
          <p:cNvSpPr/>
          <p:nvPr/>
        </p:nvSpPr>
        <p:spPr>
          <a:xfrm>
            <a:off x="4546301" y="4941360"/>
            <a:ext cx="613666" cy="575731"/>
          </a:xfrm>
          <a:custGeom>
            <a:avLst/>
            <a:gdLst/>
            <a:ahLst/>
            <a:cxnLst/>
            <a:rect l="l" t="t" r="r" b="b"/>
            <a:pathLst>
              <a:path w="613666" h="575731" extrusionOk="0">
                <a:moveTo>
                  <a:pt x="0" y="0"/>
                </a:moveTo>
                <a:lnTo>
                  <a:pt x="613666" y="0"/>
                </a:lnTo>
                <a:lnTo>
                  <a:pt x="613666" y="575730"/>
                </a:lnTo>
                <a:lnTo>
                  <a:pt x="0" y="5757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1" name="Google Shape;151;p5"/>
          <p:cNvSpPr/>
          <p:nvPr/>
        </p:nvSpPr>
        <p:spPr>
          <a:xfrm>
            <a:off x="5205551" y="6260035"/>
            <a:ext cx="613666" cy="575731"/>
          </a:xfrm>
          <a:custGeom>
            <a:avLst/>
            <a:gdLst/>
            <a:ahLst/>
            <a:cxnLst/>
            <a:rect l="l" t="t" r="r" b="b"/>
            <a:pathLst>
              <a:path w="613666" h="575731" extrusionOk="0">
                <a:moveTo>
                  <a:pt x="0" y="0"/>
                </a:moveTo>
                <a:lnTo>
                  <a:pt x="613666" y="0"/>
                </a:lnTo>
                <a:lnTo>
                  <a:pt x="613666" y="575730"/>
                </a:lnTo>
                <a:lnTo>
                  <a:pt x="0" y="5757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2" name="Google Shape;152;p5"/>
          <p:cNvSpPr/>
          <p:nvPr/>
        </p:nvSpPr>
        <p:spPr>
          <a:xfrm>
            <a:off x="6040501" y="7615010"/>
            <a:ext cx="613666" cy="575731"/>
          </a:xfrm>
          <a:custGeom>
            <a:avLst/>
            <a:gdLst/>
            <a:ahLst/>
            <a:cxnLst/>
            <a:rect l="l" t="t" r="r" b="b"/>
            <a:pathLst>
              <a:path w="613666" h="575731" extrusionOk="0">
                <a:moveTo>
                  <a:pt x="0" y="0"/>
                </a:moveTo>
                <a:lnTo>
                  <a:pt x="613666" y="0"/>
                </a:lnTo>
                <a:lnTo>
                  <a:pt x="613666" y="575730"/>
                </a:lnTo>
                <a:lnTo>
                  <a:pt x="0" y="5757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3" name="Google Shape;153;p5"/>
          <p:cNvSpPr/>
          <p:nvPr/>
        </p:nvSpPr>
        <p:spPr>
          <a:xfrm>
            <a:off x="6404151" y="8905010"/>
            <a:ext cx="613666" cy="575731"/>
          </a:xfrm>
          <a:custGeom>
            <a:avLst/>
            <a:gdLst/>
            <a:ahLst/>
            <a:cxnLst/>
            <a:rect l="l" t="t" r="r" b="b"/>
            <a:pathLst>
              <a:path w="613666" h="575731" extrusionOk="0">
                <a:moveTo>
                  <a:pt x="0" y="0"/>
                </a:moveTo>
                <a:lnTo>
                  <a:pt x="613666" y="0"/>
                </a:lnTo>
                <a:lnTo>
                  <a:pt x="613666" y="575730"/>
                </a:lnTo>
                <a:lnTo>
                  <a:pt x="0" y="5757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7"/>
          <p:cNvGrpSpPr/>
          <p:nvPr/>
        </p:nvGrpSpPr>
        <p:grpSpPr>
          <a:xfrm>
            <a:off x="0" y="-289322"/>
            <a:ext cx="18288000" cy="10576322"/>
            <a:chOff x="0" y="-76200"/>
            <a:chExt cx="4816593" cy="2785533"/>
          </a:xfrm>
        </p:grpSpPr>
        <p:sp>
          <p:nvSpPr>
            <p:cNvPr id="159" name="Google Shape;159;p7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1D8F6">
                <a:alpha val="45490"/>
              </a:srgbClr>
            </a:solidFill>
            <a:ln>
              <a:noFill/>
            </a:ln>
          </p:spPr>
        </p:sp>
        <p:sp>
          <p:nvSpPr>
            <p:cNvPr id="160" name="Google Shape;160;p7"/>
            <p:cNvSpPr txBox="1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7"/>
          <p:cNvSpPr/>
          <p:nvPr/>
        </p:nvSpPr>
        <p:spPr>
          <a:xfrm>
            <a:off x="1322832" y="5828376"/>
            <a:ext cx="15642335" cy="3753802"/>
          </a:xfrm>
          <a:custGeom>
            <a:avLst/>
            <a:gdLst/>
            <a:ahLst/>
            <a:cxnLst/>
            <a:rect l="l" t="t" r="r" b="b"/>
            <a:pathLst>
              <a:path w="15642335" h="3753802" extrusionOk="0">
                <a:moveTo>
                  <a:pt x="0" y="0"/>
                </a:moveTo>
                <a:lnTo>
                  <a:pt x="15642336" y="0"/>
                </a:lnTo>
                <a:lnTo>
                  <a:pt x="15642336" y="3753802"/>
                </a:lnTo>
                <a:lnTo>
                  <a:pt x="0" y="3753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32" r="-831" b="-9818"/>
            </a:stretch>
          </a:blipFill>
          <a:ln>
            <a:noFill/>
          </a:ln>
        </p:spPr>
      </p:sp>
      <p:sp>
        <p:nvSpPr>
          <p:cNvPr id="162" name="Google Shape;162;p7"/>
          <p:cNvSpPr txBox="1"/>
          <p:nvPr/>
        </p:nvSpPr>
        <p:spPr>
          <a:xfrm>
            <a:off x="2261935" y="0"/>
            <a:ext cx="1376413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Current Process​</a:t>
            </a:r>
            <a:endParaRPr/>
          </a:p>
        </p:txBody>
      </p:sp>
      <p:sp>
        <p:nvSpPr>
          <p:cNvPr id="163" name="Google Shape;163;p7"/>
          <p:cNvSpPr txBox="1"/>
          <p:nvPr/>
        </p:nvSpPr>
        <p:spPr>
          <a:xfrm>
            <a:off x="9289898" y="2710666"/>
            <a:ext cx="7675200" cy="22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064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774"/>
              </a:buClr>
              <a:buSzPts val="2800"/>
              <a:buFont typeface="Times New Roman"/>
              <a:buChar char="●"/>
            </a:pPr>
            <a:r>
              <a:rPr lang="en-US" sz="2800" b="0" i="0" u="none" strike="noStrike" cap="none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process defines </a:t>
            </a:r>
            <a:r>
              <a:rPr lang="en-US" sz="2800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‘</a:t>
            </a:r>
            <a:r>
              <a:rPr lang="en-US" sz="2800" b="0" i="0" u="none" strike="noStrike" cap="none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excess</a:t>
            </a:r>
            <a:r>
              <a:rPr lang="en-US" sz="2800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’</a:t>
            </a:r>
            <a:r>
              <a:rPr lang="en-US" sz="2800" b="0" i="0" u="none" strike="noStrike" cap="none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 after 12 month timeline, does not consider </a:t>
            </a:r>
            <a:r>
              <a:rPr lang="en-US" sz="2800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‘</a:t>
            </a:r>
            <a:r>
              <a:rPr lang="en-US" sz="2800" b="0" i="0" u="none" strike="noStrike" cap="none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excess</a:t>
            </a:r>
            <a:r>
              <a:rPr lang="en-US" sz="2800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’</a:t>
            </a:r>
            <a:r>
              <a:rPr lang="en-US" sz="2800" b="0" i="0" u="none" strike="noStrike" cap="none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respect to timeline connected with</a:t>
            </a:r>
            <a:r>
              <a:rPr lang="en-US" sz="2800" b="0" i="0" u="none" strike="noStrike" cap="none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lead time of the part</a:t>
            </a:r>
            <a:r>
              <a:rPr lang="en-US" sz="2800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800" b="0" i="0" u="none" strike="noStrike" cap="none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which affects the </a:t>
            </a:r>
            <a:r>
              <a:rPr lang="en-US" sz="2800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semi annually</a:t>
            </a:r>
            <a:r>
              <a:rPr lang="en-US" sz="2800" b="0" i="0" u="none" strike="noStrike" cap="none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inventory targets</a:t>
            </a:r>
            <a:r>
              <a:rPr lang="en-US" sz="2800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800" b="0" i="0" u="none" strike="noStrike" cap="none">
              <a:solidFill>
                <a:srgbClr val="0F07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1322832" y="2245756"/>
            <a:ext cx="2790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9289910" y="1735847"/>
            <a:ext cx="2790889" cy="659665"/>
          </a:xfrm>
          <a:custGeom>
            <a:avLst/>
            <a:gdLst/>
            <a:ahLst/>
            <a:cxnLst/>
            <a:rect l="l" t="t" r="r" b="b"/>
            <a:pathLst>
              <a:path w="2790889" h="659665" extrusionOk="0">
                <a:moveTo>
                  <a:pt x="0" y="0"/>
                </a:moveTo>
                <a:lnTo>
                  <a:pt x="2790889" y="0"/>
                </a:lnTo>
                <a:lnTo>
                  <a:pt x="2790889" y="659665"/>
                </a:lnTo>
                <a:lnTo>
                  <a:pt x="0" y="6596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6" name="Google Shape;166;p7"/>
          <p:cNvSpPr txBox="1"/>
          <p:nvPr/>
        </p:nvSpPr>
        <p:spPr>
          <a:xfrm>
            <a:off x="9289898" y="1704369"/>
            <a:ext cx="27909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99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Issues</a:t>
            </a:r>
            <a:endParaRPr/>
          </a:p>
        </p:txBody>
      </p:sp>
      <p:sp>
        <p:nvSpPr>
          <p:cNvPr id="167" name="Google Shape;167;p7"/>
          <p:cNvSpPr txBox="1"/>
          <p:nvPr/>
        </p:nvSpPr>
        <p:spPr>
          <a:xfrm>
            <a:off x="1322832" y="2741463"/>
            <a:ext cx="7591800" cy="22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064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774"/>
              </a:buClr>
              <a:buSzPts val="2800"/>
              <a:buFont typeface="Times New Roman"/>
              <a:buChar char="●"/>
            </a:pPr>
            <a:r>
              <a:rPr lang="en-US" sz="2800" b="0" i="0" u="none" strike="noStrike" cap="none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excess costs are calculated for a period of 52 weeks post which the costs are sent through levels of approval based on the amount.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F07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1181577" y="1728620"/>
            <a:ext cx="2851903" cy="674086"/>
          </a:xfrm>
          <a:custGeom>
            <a:avLst/>
            <a:gdLst/>
            <a:ahLst/>
            <a:cxnLst/>
            <a:rect l="l" t="t" r="r" b="b"/>
            <a:pathLst>
              <a:path w="2851903" h="674086" extrusionOk="0">
                <a:moveTo>
                  <a:pt x="0" y="0"/>
                </a:moveTo>
                <a:lnTo>
                  <a:pt x="2851902" y="0"/>
                </a:lnTo>
                <a:lnTo>
                  <a:pt x="2851902" y="674087"/>
                </a:lnTo>
                <a:lnTo>
                  <a:pt x="0" y="6740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9" name="Google Shape;169;p7"/>
          <p:cNvSpPr txBox="1"/>
          <p:nvPr/>
        </p:nvSpPr>
        <p:spPr>
          <a:xfrm>
            <a:off x="1107525" y="1680913"/>
            <a:ext cx="3000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99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Process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8"/>
          <p:cNvGrpSpPr/>
          <p:nvPr/>
        </p:nvGrpSpPr>
        <p:grpSpPr>
          <a:xfrm>
            <a:off x="0" y="-289324"/>
            <a:ext cx="18288122" cy="10576390"/>
            <a:chOff x="0" y="-76200"/>
            <a:chExt cx="4816593" cy="2785533"/>
          </a:xfrm>
        </p:grpSpPr>
        <p:sp>
          <p:nvSpPr>
            <p:cNvPr id="175" name="Google Shape;175;p8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1D8F6">
                <a:alpha val="45490"/>
              </a:srgbClr>
            </a:solidFill>
            <a:ln>
              <a:noFill/>
            </a:ln>
          </p:spPr>
        </p:sp>
        <p:sp>
          <p:nvSpPr>
            <p:cNvPr id="176" name="Google Shape;176;p8"/>
            <p:cNvSpPr txBox="1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8"/>
          <p:cNvSpPr/>
          <p:nvPr/>
        </p:nvSpPr>
        <p:spPr>
          <a:xfrm>
            <a:off x="1181577" y="6324157"/>
            <a:ext cx="15524343" cy="3800531"/>
          </a:xfrm>
          <a:custGeom>
            <a:avLst/>
            <a:gdLst/>
            <a:ahLst/>
            <a:cxnLst/>
            <a:rect l="l" t="t" r="r" b="b"/>
            <a:pathLst>
              <a:path w="15524343" h="3800531" extrusionOk="0">
                <a:moveTo>
                  <a:pt x="0" y="0"/>
                </a:moveTo>
                <a:lnTo>
                  <a:pt x="15524342" y="0"/>
                </a:lnTo>
                <a:lnTo>
                  <a:pt x="15524342" y="3800531"/>
                </a:lnTo>
                <a:lnTo>
                  <a:pt x="0" y="3800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2664" b="-2800"/>
            </a:stretch>
          </a:blipFill>
          <a:ln>
            <a:noFill/>
          </a:ln>
        </p:spPr>
      </p:sp>
      <p:sp>
        <p:nvSpPr>
          <p:cNvPr id="178" name="Google Shape;178;p8"/>
          <p:cNvSpPr txBox="1"/>
          <p:nvPr/>
        </p:nvSpPr>
        <p:spPr>
          <a:xfrm>
            <a:off x="2061683" y="-134845"/>
            <a:ext cx="137640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Suggested Process​</a:t>
            </a:r>
            <a:endParaRPr sz="9000"/>
          </a:p>
        </p:txBody>
      </p:sp>
      <p:sp>
        <p:nvSpPr>
          <p:cNvPr id="179" name="Google Shape;179;p8"/>
          <p:cNvSpPr txBox="1"/>
          <p:nvPr/>
        </p:nvSpPr>
        <p:spPr>
          <a:xfrm>
            <a:off x="819325" y="2665125"/>
            <a:ext cx="9027900" cy="40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064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774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</a:t>
            </a:r>
            <a:r>
              <a:rPr lang="en-US" sz="2800" b="0" i="0" u="none" strike="noStrike" cap="none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‘</a:t>
            </a:r>
            <a:r>
              <a:rPr lang="en-US" sz="2800" b="0" i="0" u="none" strike="noStrike" cap="none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excess</a:t>
            </a:r>
            <a:r>
              <a:rPr lang="en-US" sz="2800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’</a:t>
            </a:r>
            <a:r>
              <a:rPr lang="en-US" sz="2800" b="0" i="0" u="none" strike="noStrike" cap="none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inventory as per timeline (T) which </a:t>
            </a:r>
            <a:r>
              <a:rPr lang="en-US" sz="2800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follows </a:t>
            </a:r>
            <a:r>
              <a:rPr lang="en-US" sz="2800" b="0" i="0" u="none" strike="noStrike" cap="none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times the lead time while considering demand in </a:t>
            </a:r>
            <a:r>
              <a:rPr lang="en-US" sz="2800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timeline (T)</a:t>
            </a:r>
            <a:r>
              <a:rPr lang="en-US" sz="2800" b="0" i="0" u="none" strike="noStrike" cap="none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excess after </a:t>
            </a:r>
            <a:r>
              <a:rPr lang="en-US" sz="2800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timeline →</a:t>
            </a:r>
            <a:r>
              <a:rPr lang="en-US" sz="2800" b="0" i="0" u="none" strike="noStrike" cap="none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improve the decision-making process from the approver’s perspective</a:t>
            </a:r>
            <a:endParaRPr sz="2800" b="0" i="0" u="none" strike="noStrike" cap="none">
              <a:solidFill>
                <a:srgbClr val="0F07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064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774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Segmentation of Timeline (T) days into three categories:</a:t>
            </a:r>
            <a:endParaRPr sz="2800">
              <a:solidFill>
                <a:srgbClr val="0F07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&lt;=182 (6 month), 182&lt; T(2*LT) &lt; 365, &gt;=365 (12 month)</a:t>
            </a:r>
            <a:endParaRPr sz="2800">
              <a:solidFill>
                <a:srgbClr val="0F07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F07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1181577" y="1728620"/>
            <a:ext cx="2851903" cy="674086"/>
          </a:xfrm>
          <a:custGeom>
            <a:avLst/>
            <a:gdLst/>
            <a:ahLst/>
            <a:cxnLst/>
            <a:rect l="l" t="t" r="r" b="b"/>
            <a:pathLst>
              <a:path w="2851903" h="674086" extrusionOk="0">
                <a:moveTo>
                  <a:pt x="0" y="0"/>
                </a:moveTo>
                <a:lnTo>
                  <a:pt x="2851902" y="0"/>
                </a:lnTo>
                <a:lnTo>
                  <a:pt x="2851902" y="674087"/>
                </a:lnTo>
                <a:lnTo>
                  <a:pt x="0" y="6740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1" name="Google Shape;181;p8"/>
          <p:cNvSpPr txBox="1"/>
          <p:nvPr/>
        </p:nvSpPr>
        <p:spPr>
          <a:xfrm>
            <a:off x="1181577" y="1751264"/>
            <a:ext cx="27909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Process</a:t>
            </a:r>
            <a:endParaRPr sz="3750"/>
          </a:p>
        </p:txBody>
      </p:sp>
      <p:sp>
        <p:nvSpPr>
          <p:cNvPr id="182" name="Google Shape;182;p8"/>
          <p:cNvSpPr/>
          <p:nvPr/>
        </p:nvSpPr>
        <p:spPr>
          <a:xfrm>
            <a:off x="10016336" y="1728620"/>
            <a:ext cx="3068886" cy="725373"/>
          </a:xfrm>
          <a:custGeom>
            <a:avLst/>
            <a:gdLst/>
            <a:ahLst/>
            <a:cxnLst/>
            <a:rect l="l" t="t" r="r" b="b"/>
            <a:pathLst>
              <a:path w="3068886" h="725373" extrusionOk="0">
                <a:moveTo>
                  <a:pt x="0" y="0"/>
                </a:moveTo>
                <a:lnTo>
                  <a:pt x="3068886" y="0"/>
                </a:lnTo>
                <a:lnTo>
                  <a:pt x="3068886" y="725373"/>
                </a:lnTo>
                <a:lnTo>
                  <a:pt x="0" y="7253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3" name="Google Shape;183;p8"/>
          <p:cNvSpPr txBox="1"/>
          <p:nvPr/>
        </p:nvSpPr>
        <p:spPr>
          <a:xfrm>
            <a:off x="10155319" y="1751270"/>
            <a:ext cx="27909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Improvement</a:t>
            </a:r>
            <a:endParaRPr sz="3750"/>
          </a:p>
        </p:txBody>
      </p:sp>
      <p:sp>
        <p:nvSpPr>
          <p:cNvPr id="184" name="Google Shape;184;p8"/>
          <p:cNvSpPr txBox="1"/>
          <p:nvPr/>
        </p:nvSpPr>
        <p:spPr>
          <a:xfrm>
            <a:off x="9847225" y="2665125"/>
            <a:ext cx="7525200" cy="3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064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774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Removes any possible bias that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 sz="2800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caused because of not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 sz="2800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considering the timeline with respect to lead time. </a:t>
            </a:r>
            <a:endParaRPr sz="2800">
              <a:solidFill>
                <a:srgbClr val="0F07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64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774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0F07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Additionally, adding a buffer zone for potential fluctuating demand. (so, Timeline = 2*LT)</a:t>
            </a:r>
            <a:endParaRPr sz="2800">
              <a:solidFill>
                <a:srgbClr val="0F07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F07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g2c95a558b81_0_1"/>
          <p:cNvGrpSpPr/>
          <p:nvPr/>
        </p:nvGrpSpPr>
        <p:grpSpPr>
          <a:xfrm>
            <a:off x="359977" y="-9"/>
            <a:ext cx="17568036" cy="9856373"/>
            <a:chOff x="0" y="-76200"/>
            <a:chExt cx="4626942" cy="2595900"/>
          </a:xfrm>
        </p:grpSpPr>
        <p:sp>
          <p:nvSpPr>
            <p:cNvPr id="190" name="Google Shape;190;g2c95a558b81_0_1"/>
            <p:cNvSpPr/>
            <p:nvPr/>
          </p:nvSpPr>
          <p:spPr>
            <a:xfrm>
              <a:off x="0" y="0"/>
              <a:ext cx="4626942" cy="2519682"/>
            </a:xfrm>
            <a:custGeom>
              <a:avLst/>
              <a:gdLst/>
              <a:ahLst/>
              <a:cxnLst/>
              <a:rect l="l" t="t" r="r" b="b"/>
              <a:pathLst>
                <a:path w="4626942" h="2519682" extrusionOk="0">
                  <a:moveTo>
                    <a:pt x="0" y="0"/>
                  </a:moveTo>
                  <a:lnTo>
                    <a:pt x="4626942" y="0"/>
                  </a:lnTo>
                  <a:lnTo>
                    <a:pt x="4626942" y="2519682"/>
                  </a:lnTo>
                  <a:lnTo>
                    <a:pt x="0" y="2519682"/>
                  </a:lnTo>
                  <a:close/>
                </a:path>
              </a:pathLst>
            </a:custGeom>
            <a:solidFill>
              <a:srgbClr val="C1D8F6">
                <a:alpha val="45490"/>
              </a:srgbClr>
            </a:solidFill>
            <a:ln>
              <a:noFill/>
            </a:ln>
          </p:spPr>
        </p:sp>
        <p:sp>
          <p:nvSpPr>
            <p:cNvPr id="191" name="Google Shape;191;g2c95a558b81_0_1"/>
            <p:cNvSpPr txBox="1"/>
            <p:nvPr/>
          </p:nvSpPr>
          <p:spPr>
            <a:xfrm>
              <a:off x="0" y="-76200"/>
              <a:ext cx="4626900" cy="25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2" name="Google Shape;192;g2c95a558b81_0_1"/>
          <p:cNvSpPr txBox="1"/>
          <p:nvPr/>
        </p:nvSpPr>
        <p:spPr>
          <a:xfrm>
            <a:off x="-843943" y="3489704"/>
            <a:ext cx="4386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1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2c95a558b81_0_1"/>
          <p:cNvSpPr txBox="1"/>
          <p:nvPr/>
        </p:nvSpPr>
        <p:spPr>
          <a:xfrm>
            <a:off x="4835014" y="164277"/>
            <a:ext cx="86178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dirty="0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Business Process</a:t>
            </a:r>
            <a:endParaRPr dirty="0"/>
          </a:p>
        </p:txBody>
      </p:sp>
      <p:sp>
        <p:nvSpPr>
          <p:cNvPr id="194" name="Google Shape;194;g2c95a558b81_0_1"/>
          <p:cNvSpPr txBox="1"/>
          <p:nvPr/>
        </p:nvSpPr>
        <p:spPr>
          <a:xfrm>
            <a:off x="1644804" y="4839917"/>
            <a:ext cx="3646200" cy="33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0" i="0" u="none" strike="noStrike" cap="none">
                <a:solidFill>
                  <a:srgbClr val="EBEFF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Site</a:t>
            </a:r>
            <a:endParaRPr/>
          </a:p>
          <a:p>
            <a:pPr marL="0" marR="0" lvl="0" indent="0" algn="l" rtl="0">
              <a:lnSpc>
                <a:spcPct val="17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0" i="0" u="none" strike="noStrike" cap="none">
                <a:solidFill>
                  <a:srgbClr val="EBEFF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 Part Number</a:t>
            </a:r>
            <a:endParaRPr/>
          </a:p>
          <a:p>
            <a:pPr marL="0" marR="0" lvl="0" indent="0" algn="l" rtl="0">
              <a:lnSpc>
                <a:spcPct val="17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0" i="0" u="none" strike="noStrike" cap="none">
                <a:solidFill>
                  <a:srgbClr val="EBEFF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Due Date</a:t>
            </a:r>
            <a:endParaRPr/>
          </a:p>
          <a:p>
            <a:pPr marL="0" marR="0" lvl="0" indent="0" algn="l" rtl="0">
              <a:lnSpc>
                <a:spcPct val="17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0" i="0" u="none" strike="noStrike" cap="none">
                <a:solidFill>
                  <a:srgbClr val="EBEFF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Planned Demand</a:t>
            </a:r>
            <a:endParaRPr/>
          </a:p>
          <a:p>
            <a:pPr marL="0" marR="0" lvl="0" indent="0" algn="l" rtl="0">
              <a:lnSpc>
                <a:spcPct val="17006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99" b="0" i="0" u="none" strike="noStrike" cap="none">
              <a:solidFill>
                <a:srgbClr val="EBEFF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g2c95a558b81_0_1"/>
          <p:cNvSpPr txBox="1"/>
          <p:nvPr/>
        </p:nvSpPr>
        <p:spPr>
          <a:xfrm>
            <a:off x="11211575" y="2872688"/>
            <a:ext cx="3646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6444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g2c95a558b81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1001" y="2086183"/>
            <a:ext cx="16405827" cy="772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14"/>
          <p:cNvGrpSpPr/>
          <p:nvPr/>
        </p:nvGrpSpPr>
        <p:grpSpPr>
          <a:xfrm>
            <a:off x="370327" y="101579"/>
            <a:ext cx="17506198" cy="9773946"/>
            <a:chOff x="0" y="-76200"/>
            <a:chExt cx="4610686" cy="2574208"/>
          </a:xfrm>
        </p:grpSpPr>
        <p:sp>
          <p:nvSpPr>
            <p:cNvPr id="202" name="Google Shape;202;p14"/>
            <p:cNvSpPr/>
            <p:nvPr/>
          </p:nvSpPr>
          <p:spPr>
            <a:xfrm>
              <a:off x="0" y="0"/>
              <a:ext cx="4610686" cy="2498008"/>
            </a:xfrm>
            <a:custGeom>
              <a:avLst/>
              <a:gdLst/>
              <a:ahLst/>
              <a:cxnLst/>
              <a:rect l="l" t="t" r="r" b="b"/>
              <a:pathLst>
                <a:path w="4610686" h="2498008" extrusionOk="0">
                  <a:moveTo>
                    <a:pt x="0" y="0"/>
                  </a:moveTo>
                  <a:lnTo>
                    <a:pt x="4610686" y="0"/>
                  </a:lnTo>
                  <a:lnTo>
                    <a:pt x="4610686" y="2498008"/>
                  </a:lnTo>
                  <a:lnTo>
                    <a:pt x="0" y="2498008"/>
                  </a:lnTo>
                  <a:close/>
                </a:path>
              </a:pathLst>
            </a:custGeom>
            <a:solidFill>
              <a:srgbClr val="C1D8F6">
                <a:alpha val="45490"/>
              </a:srgbClr>
            </a:solidFill>
            <a:ln>
              <a:noFill/>
            </a:ln>
          </p:spPr>
        </p:sp>
        <p:sp>
          <p:nvSpPr>
            <p:cNvPr id="203" name="Google Shape;203;p14"/>
            <p:cNvSpPr txBox="1"/>
            <p:nvPr/>
          </p:nvSpPr>
          <p:spPr>
            <a:xfrm>
              <a:off x="0" y="-76200"/>
              <a:ext cx="4610686" cy="2574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p14"/>
          <p:cNvSpPr txBox="1"/>
          <p:nvPr/>
        </p:nvSpPr>
        <p:spPr>
          <a:xfrm>
            <a:off x="2257800" y="90738"/>
            <a:ext cx="13772400" cy="10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67" b="1" dirty="0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Exploratory Data Analysis</a:t>
            </a:r>
            <a:endParaRPr sz="100" dirty="0"/>
          </a:p>
        </p:txBody>
      </p:sp>
      <p:pic>
        <p:nvPicPr>
          <p:cNvPr id="205" name="Google Shape;2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75" y="1743075"/>
            <a:ext cx="14330006" cy="813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4"/>
          <p:cNvSpPr txBox="1"/>
          <p:nvPr/>
        </p:nvSpPr>
        <p:spPr>
          <a:xfrm>
            <a:off x="15005800" y="1966175"/>
            <a:ext cx="2721300" cy="44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 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Excess Inventory Purchase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of Requests : 1408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of Sites : 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of Part Number : 1064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Aug’22 to Dec’23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g2ce6214d7e5_0_23"/>
          <p:cNvGrpSpPr/>
          <p:nvPr/>
        </p:nvGrpSpPr>
        <p:grpSpPr>
          <a:xfrm>
            <a:off x="370327" y="101577"/>
            <a:ext cx="17506367" cy="9774360"/>
            <a:chOff x="0" y="-76200"/>
            <a:chExt cx="4610700" cy="2574300"/>
          </a:xfrm>
        </p:grpSpPr>
        <p:sp>
          <p:nvSpPr>
            <p:cNvPr id="212" name="Google Shape;212;g2ce6214d7e5_0_23"/>
            <p:cNvSpPr/>
            <p:nvPr/>
          </p:nvSpPr>
          <p:spPr>
            <a:xfrm>
              <a:off x="0" y="0"/>
              <a:ext cx="4610686" cy="2498008"/>
            </a:xfrm>
            <a:custGeom>
              <a:avLst/>
              <a:gdLst/>
              <a:ahLst/>
              <a:cxnLst/>
              <a:rect l="l" t="t" r="r" b="b"/>
              <a:pathLst>
                <a:path w="4610686" h="2498008" extrusionOk="0">
                  <a:moveTo>
                    <a:pt x="0" y="0"/>
                  </a:moveTo>
                  <a:lnTo>
                    <a:pt x="4610686" y="0"/>
                  </a:lnTo>
                  <a:lnTo>
                    <a:pt x="4610686" y="2498008"/>
                  </a:lnTo>
                  <a:lnTo>
                    <a:pt x="0" y="2498008"/>
                  </a:lnTo>
                  <a:close/>
                </a:path>
              </a:pathLst>
            </a:custGeom>
            <a:solidFill>
              <a:srgbClr val="C1D8F6">
                <a:alpha val="45490"/>
              </a:srgbClr>
            </a:solidFill>
            <a:ln>
              <a:noFill/>
            </a:ln>
          </p:spPr>
        </p:sp>
        <p:sp>
          <p:nvSpPr>
            <p:cNvPr id="213" name="Google Shape;213;g2ce6214d7e5_0_23"/>
            <p:cNvSpPr txBox="1"/>
            <p:nvPr/>
          </p:nvSpPr>
          <p:spPr>
            <a:xfrm>
              <a:off x="0" y="-76200"/>
              <a:ext cx="4610700" cy="257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g2ce6214d7e5_0_23"/>
          <p:cNvSpPr txBox="1"/>
          <p:nvPr/>
        </p:nvSpPr>
        <p:spPr>
          <a:xfrm>
            <a:off x="2257800" y="48001"/>
            <a:ext cx="13772400" cy="10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67" b="1" dirty="0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Exploratory Data Analysis</a:t>
            </a:r>
            <a:endParaRPr sz="100" dirty="0"/>
          </a:p>
        </p:txBody>
      </p:sp>
      <p:sp>
        <p:nvSpPr>
          <p:cNvPr id="215" name="Google Shape;215;g2ce6214d7e5_0_23"/>
          <p:cNvSpPr txBox="1"/>
          <p:nvPr/>
        </p:nvSpPr>
        <p:spPr>
          <a:xfrm>
            <a:off x="9622475" y="1780100"/>
            <a:ext cx="5784600" cy="4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Files B 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Demand (17 Files)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Selected Columns : Site, TER Part Number, Due Date, Planned Demand, Parent Site, Parent Part.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g2ce6214d7e5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4401" y="5285288"/>
            <a:ext cx="9250622" cy="459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2ce6214d7e5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089" y="1576637"/>
            <a:ext cx="8852624" cy="43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2ce6214d7e5_0_23"/>
          <p:cNvSpPr txBox="1"/>
          <p:nvPr/>
        </p:nvSpPr>
        <p:spPr>
          <a:xfrm>
            <a:off x="3199950" y="8187075"/>
            <a:ext cx="45888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Files C 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 Data (17 Files)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Selected Columns : Site, TER Part Number, cum lt wks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11"/>
          <p:cNvGrpSpPr/>
          <p:nvPr/>
        </p:nvGrpSpPr>
        <p:grpSpPr>
          <a:xfrm>
            <a:off x="360040" y="70716"/>
            <a:ext cx="17568036" cy="9856304"/>
            <a:chOff x="0" y="-76200"/>
            <a:chExt cx="4626942" cy="2595882"/>
          </a:xfrm>
        </p:grpSpPr>
        <p:sp>
          <p:nvSpPr>
            <p:cNvPr id="224" name="Google Shape;224;p11"/>
            <p:cNvSpPr/>
            <p:nvPr/>
          </p:nvSpPr>
          <p:spPr>
            <a:xfrm>
              <a:off x="0" y="0"/>
              <a:ext cx="4626942" cy="2519682"/>
            </a:xfrm>
            <a:custGeom>
              <a:avLst/>
              <a:gdLst/>
              <a:ahLst/>
              <a:cxnLst/>
              <a:rect l="l" t="t" r="r" b="b"/>
              <a:pathLst>
                <a:path w="4626942" h="2519682" extrusionOk="0">
                  <a:moveTo>
                    <a:pt x="0" y="0"/>
                  </a:moveTo>
                  <a:lnTo>
                    <a:pt x="4626942" y="0"/>
                  </a:lnTo>
                  <a:lnTo>
                    <a:pt x="4626942" y="2519682"/>
                  </a:lnTo>
                  <a:lnTo>
                    <a:pt x="0" y="2519682"/>
                  </a:lnTo>
                  <a:close/>
                </a:path>
              </a:pathLst>
            </a:custGeom>
            <a:solidFill>
              <a:srgbClr val="C1D8F6">
                <a:alpha val="45490"/>
              </a:srgbClr>
            </a:solidFill>
            <a:ln>
              <a:noFill/>
            </a:ln>
          </p:spPr>
        </p:sp>
        <p:sp>
          <p:nvSpPr>
            <p:cNvPr id="225" name="Google Shape;225;p11"/>
            <p:cNvSpPr txBox="1"/>
            <p:nvPr/>
          </p:nvSpPr>
          <p:spPr>
            <a:xfrm>
              <a:off x="0" y="-76200"/>
              <a:ext cx="4626942" cy="25958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11"/>
          <p:cNvSpPr txBox="1"/>
          <p:nvPr/>
        </p:nvSpPr>
        <p:spPr>
          <a:xfrm>
            <a:off x="4803493" y="-54631"/>
            <a:ext cx="8617764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 dirty="0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Analysis Steps</a:t>
            </a:r>
            <a:endParaRPr dirty="0"/>
          </a:p>
        </p:txBody>
      </p:sp>
      <p:sp>
        <p:nvSpPr>
          <p:cNvPr id="227" name="Google Shape;227;p11"/>
          <p:cNvSpPr txBox="1"/>
          <p:nvPr/>
        </p:nvSpPr>
        <p:spPr>
          <a:xfrm>
            <a:off x="1644804" y="4839917"/>
            <a:ext cx="3646331" cy="301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0" i="0" u="none" strike="noStrike" cap="none">
                <a:solidFill>
                  <a:srgbClr val="EBEFF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Site</a:t>
            </a:r>
            <a:endParaRPr/>
          </a:p>
          <a:p>
            <a:pPr marL="0" marR="0" lvl="0" indent="0" algn="l" rtl="0">
              <a:lnSpc>
                <a:spcPct val="17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0" i="0" u="none" strike="noStrike" cap="none">
                <a:solidFill>
                  <a:srgbClr val="EBEFF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 Part Number</a:t>
            </a:r>
            <a:endParaRPr/>
          </a:p>
          <a:p>
            <a:pPr marL="0" marR="0" lvl="0" indent="0" algn="l" rtl="0">
              <a:lnSpc>
                <a:spcPct val="17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0" i="0" u="none" strike="noStrike" cap="none">
                <a:solidFill>
                  <a:srgbClr val="EBEFF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Due Date</a:t>
            </a:r>
            <a:endParaRPr/>
          </a:p>
          <a:p>
            <a:pPr marL="0" marR="0" lvl="0" indent="0" algn="l" rtl="0">
              <a:lnSpc>
                <a:spcPct val="17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0" i="0" u="none" strike="noStrike" cap="none">
                <a:solidFill>
                  <a:srgbClr val="EBEFF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Planned Demand</a:t>
            </a:r>
            <a:endParaRPr/>
          </a:p>
          <a:p>
            <a:pPr marL="0" marR="0" lvl="0" indent="0" algn="l" rtl="0">
              <a:lnSpc>
                <a:spcPct val="17006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99" b="0" i="0" u="none" strike="noStrike" cap="none">
              <a:solidFill>
                <a:srgbClr val="EBEFF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11211575" y="2872688"/>
            <a:ext cx="3646331" cy="61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6444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175" y="2645700"/>
            <a:ext cx="13371098" cy="6253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1"/>
          <p:cNvSpPr txBox="1"/>
          <p:nvPr/>
        </p:nvSpPr>
        <p:spPr>
          <a:xfrm>
            <a:off x="8509000" y="1926200"/>
            <a:ext cx="2497800" cy="1142700"/>
          </a:xfrm>
          <a:prstGeom prst="rect">
            <a:avLst/>
          </a:prstGeom>
          <a:solidFill>
            <a:srgbClr val="EBEF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Adjusted Date : 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Requested Date + Cum Lt weeks * 2 * 7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 txBox="1"/>
          <p:nvPr/>
        </p:nvSpPr>
        <p:spPr>
          <a:xfrm>
            <a:off x="5041900" y="1926200"/>
            <a:ext cx="2683800" cy="1142700"/>
          </a:xfrm>
          <a:prstGeom prst="rect">
            <a:avLst/>
          </a:prstGeom>
          <a:solidFill>
            <a:srgbClr val="EBEF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 New LT Days as &lt;182, 182-365 and &gt;365 days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 txBox="1"/>
          <p:nvPr/>
        </p:nvSpPr>
        <p:spPr>
          <a:xfrm>
            <a:off x="6802975" y="8386275"/>
            <a:ext cx="3759300" cy="1142700"/>
          </a:xfrm>
          <a:prstGeom prst="rect">
            <a:avLst/>
          </a:prstGeom>
          <a:solidFill>
            <a:srgbClr val="EBEF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Aggregate the Planned Demand upto the Adjusted date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Due date.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 txBox="1"/>
          <p:nvPr/>
        </p:nvSpPr>
        <p:spPr>
          <a:xfrm>
            <a:off x="14300200" y="3485475"/>
            <a:ext cx="2749500" cy="835500"/>
          </a:xfrm>
          <a:prstGeom prst="rect">
            <a:avLst/>
          </a:prstGeom>
          <a:solidFill>
            <a:srgbClr val="EBEF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Aggregated Planned Demand - OH - OO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 txBox="1"/>
          <p:nvPr/>
        </p:nvSpPr>
        <p:spPr>
          <a:xfrm>
            <a:off x="14685425" y="5606375"/>
            <a:ext cx="2683800" cy="835500"/>
          </a:xfrm>
          <a:prstGeom prst="rect">
            <a:avLst/>
          </a:prstGeom>
          <a:solidFill>
            <a:srgbClr val="EBEF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Sugg. Needed Quantity - Quantity Ordered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 txBox="1"/>
          <p:nvPr/>
        </p:nvSpPr>
        <p:spPr>
          <a:xfrm>
            <a:off x="14857900" y="7367450"/>
            <a:ext cx="2430000" cy="835500"/>
          </a:xfrm>
          <a:prstGeom prst="rect">
            <a:avLst/>
          </a:prstGeom>
          <a:solidFill>
            <a:srgbClr val="EBEF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Potential Excess Quantity * PO Price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8217950" y="1772450"/>
            <a:ext cx="381000" cy="402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Calibri"/>
                <a:ea typeface="Calibri"/>
                <a:cs typeface="Calibri"/>
                <a:sym typeface="Calibri"/>
              </a:rPr>
              <a:t>1</a:t>
            </a:r>
            <a:endParaRPr sz="17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4835125" y="1696250"/>
            <a:ext cx="381000" cy="402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Calibri"/>
                <a:ea typeface="Calibri"/>
                <a:cs typeface="Calibri"/>
                <a:sym typeface="Calibri"/>
              </a:rPr>
              <a:t>2</a:t>
            </a:r>
            <a:endParaRPr sz="17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6580725" y="8203100"/>
            <a:ext cx="381000" cy="402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Calibri"/>
                <a:ea typeface="Calibri"/>
                <a:cs typeface="Calibri"/>
                <a:sym typeface="Calibri"/>
              </a:rPr>
              <a:t>3</a:t>
            </a:r>
            <a:endParaRPr sz="17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14063400" y="3295350"/>
            <a:ext cx="381000" cy="402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Calibri"/>
                <a:ea typeface="Calibri"/>
                <a:cs typeface="Calibri"/>
                <a:sym typeface="Calibri"/>
              </a:rPr>
              <a:t>4</a:t>
            </a:r>
            <a:endParaRPr sz="17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14444400" y="5396663"/>
            <a:ext cx="381000" cy="402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Calibri"/>
                <a:ea typeface="Calibri"/>
                <a:cs typeface="Calibri"/>
                <a:sym typeface="Calibri"/>
              </a:rPr>
              <a:t>5</a:t>
            </a:r>
            <a:endParaRPr sz="17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14549175" y="7204038"/>
            <a:ext cx="381000" cy="402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11"/>
          <p:cNvCxnSpPr>
            <a:endCxn id="231" idx="2"/>
          </p:cNvCxnSpPr>
          <p:nvPr/>
        </p:nvCxnSpPr>
        <p:spPr>
          <a:xfrm rot="10800000" flipH="1">
            <a:off x="6318100" y="3068900"/>
            <a:ext cx="65700" cy="2074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3" name="Google Shape;243;p11"/>
          <p:cNvCxnSpPr/>
          <p:nvPr/>
        </p:nvCxnSpPr>
        <p:spPr>
          <a:xfrm rot="10800000" flipH="1">
            <a:off x="7699375" y="3111475"/>
            <a:ext cx="1413000" cy="2492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4" name="Google Shape;244;p11"/>
          <p:cNvCxnSpPr/>
          <p:nvPr/>
        </p:nvCxnSpPr>
        <p:spPr>
          <a:xfrm flipH="1">
            <a:off x="9017100" y="6381750"/>
            <a:ext cx="888900" cy="1968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" name="Google Shape;245;p11"/>
          <p:cNvCxnSpPr>
            <a:endCxn id="235" idx="1"/>
          </p:cNvCxnSpPr>
          <p:nvPr/>
        </p:nvCxnSpPr>
        <p:spPr>
          <a:xfrm>
            <a:off x="13112800" y="7397600"/>
            <a:ext cx="1745100" cy="38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6" name="Google Shape;246;p11"/>
          <p:cNvCxnSpPr>
            <a:endCxn id="234" idx="1"/>
          </p:cNvCxnSpPr>
          <p:nvPr/>
        </p:nvCxnSpPr>
        <p:spPr>
          <a:xfrm rot="10800000" flipH="1">
            <a:off x="13271525" y="6024125"/>
            <a:ext cx="1413900" cy="246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7" name="Google Shape;247;p11"/>
          <p:cNvCxnSpPr>
            <a:endCxn id="233" idx="1"/>
          </p:cNvCxnSpPr>
          <p:nvPr/>
        </p:nvCxnSpPr>
        <p:spPr>
          <a:xfrm rot="10800000" flipH="1">
            <a:off x="13287400" y="3903225"/>
            <a:ext cx="1012800" cy="1192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g2c965265df4_0_15"/>
          <p:cNvGrpSpPr/>
          <p:nvPr/>
        </p:nvGrpSpPr>
        <p:grpSpPr>
          <a:xfrm>
            <a:off x="370327" y="101577"/>
            <a:ext cx="17506367" cy="9774360"/>
            <a:chOff x="0" y="-76200"/>
            <a:chExt cx="4610700" cy="2574300"/>
          </a:xfrm>
        </p:grpSpPr>
        <p:sp>
          <p:nvSpPr>
            <p:cNvPr id="253" name="Google Shape;253;g2c965265df4_0_15"/>
            <p:cNvSpPr/>
            <p:nvPr/>
          </p:nvSpPr>
          <p:spPr>
            <a:xfrm>
              <a:off x="0" y="0"/>
              <a:ext cx="4610686" cy="2498008"/>
            </a:xfrm>
            <a:custGeom>
              <a:avLst/>
              <a:gdLst/>
              <a:ahLst/>
              <a:cxnLst/>
              <a:rect l="l" t="t" r="r" b="b"/>
              <a:pathLst>
                <a:path w="4610686" h="2498008" extrusionOk="0">
                  <a:moveTo>
                    <a:pt x="0" y="0"/>
                  </a:moveTo>
                  <a:lnTo>
                    <a:pt x="4610686" y="0"/>
                  </a:lnTo>
                  <a:lnTo>
                    <a:pt x="4610686" y="2498008"/>
                  </a:lnTo>
                  <a:lnTo>
                    <a:pt x="0" y="2498008"/>
                  </a:lnTo>
                  <a:close/>
                </a:path>
              </a:pathLst>
            </a:custGeom>
            <a:solidFill>
              <a:srgbClr val="C1D8F6">
                <a:alpha val="45490"/>
              </a:srgbClr>
            </a:solidFill>
            <a:ln>
              <a:noFill/>
            </a:ln>
          </p:spPr>
        </p:sp>
        <p:sp>
          <p:nvSpPr>
            <p:cNvPr id="254" name="Google Shape;254;g2c965265df4_0_15"/>
            <p:cNvSpPr txBox="1"/>
            <p:nvPr/>
          </p:nvSpPr>
          <p:spPr>
            <a:xfrm>
              <a:off x="0" y="-76200"/>
              <a:ext cx="4610700" cy="257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5" name="Google Shape;255;g2c965265df4_0_15"/>
          <p:cNvSpPr txBox="1"/>
          <p:nvPr/>
        </p:nvSpPr>
        <p:spPr>
          <a:xfrm>
            <a:off x="1988048" y="4391000"/>
            <a:ext cx="13772400" cy="11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67" b="1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Python Code</a:t>
            </a:r>
            <a:endParaRPr sz="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g2c965265df4_0_6"/>
          <p:cNvGrpSpPr/>
          <p:nvPr/>
        </p:nvGrpSpPr>
        <p:grpSpPr>
          <a:xfrm>
            <a:off x="370327" y="101577"/>
            <a:ext cx="17506367" cy="9774360"/>
            <a:chOff x="0" y="-76200"/>
            <a:chExt cx="4610700" cy="2574300"/>
          </a:xfrm>
        </p:grpSpPr>
        <p:sp>
          <p:nvSpPr>
            <p:cNvPr id="261" name="Google Shape;261;g2c965265df4_0_6"/>
            <p:cNvSpPr/>
            <p:nvPr/>
          </p:nvSpPr>
          <p:spPr>
            <a:xfrm>
              <a:off x="0" y="0"/>
              <a:ext cx="4610686" cy="2498008"/>
            </a:xfrm>
            <a:custGeom>
              <a:avLst/>
              <a:gdLst/>
              <a:ahLst/>
              <a:cxnLst/>
              <a:rect l="l" t="t" r="r" b="b"/>
              <a:pathLst>
                <a:path w="4610686" h="2498008" extrusionOk="0">
                  <a:moveTo>
                    <a:pt x="0" y="0"/>
                  </a:moveTo>
                  <a:lnTo>
                    <a:pt x="4610686" y="0"/>
                  </a:lnTo>
                  <a:lnTo>
                    <a:pt x="4610686" y="2498008"/>
                  </a:lnTo>
                  <a:lnTo>
                    <a:pt x="0" y="2498008"/>
                  </a:lnTo>
                  <a:close/>
                </a:path>
              </a:pathLst>
            </a:custGeom>
            <a:solidFill>
              <a:srgbClr val="C1D8F6">
                <a:alpha val="45490"/>
              </a:srgbClr>
            </a:solidFill>
            <a:ln>
              <a:noFill/>
            </a:ln>
          </p:spPr>
        </p:sp>
        <p:sp>
          <p:nvSpPr>
            <p:cNvPr id="262" name="Google Shape;262;g2c965265df4_0_6"/>
            <p:cNvSpPr txBox="1"/>
            <p:nvPr/>
          </p:nvSpPr>
          <p:spPr>
            <a:xfrm>
              <a:off x="0" y="-76200"/>
              <a:ext cx="4610700" cy="257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g2c965265df4_0_6"/>
          <p:cNvSpPr txBox="1"/>
          <p:nvPr/>
        </p:nvSpPr>
        <p:spPr>
          <a:xfrm>
            <a:off x="2237284" y="101228"/>
            <a:ext cx="13772400" cy="11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67" b="1" dirty="0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Findings</a:t>
            </a:r>
            <a:endParaRPr sz="400" dirty="0"/>
          </a:p>
        </p:txBody>
      </p:sp>
      <p:pic>
        <p:nvPicPr>
          <p:cNvPr id="264" name="Google Shape;264;g2c965265df4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8402" y="1688700"/>
            <a:ext cx="14440274" cy="816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g2cebee36290_1_14"/>
          <p:cNvGrpSpPr/>
          <p:nvPr/>
        </p:nvGrpSpPr>
        <p:grpSpPr>
          <a:xfrm>
            <a:off x="401125" y="5"/>
            <a:ext cx="17485864" cy="9815366"/>
            <a:chOff x="0" y="-76200"/>
            <a:chExt cx="4605300" cy="2585100"/>
          </a:xfrm>
        </p:grpSpPr>
        <p:sp>
          <p:nvSpPr>
            <p:cNvPr id="270" name="Google Shape;270;g2cebee36290_1_14"/>
            <p:cNvSpPr/>
            <p:nvPr/>
          </p:nvSpPr>
          <p:spPr>
            <a:xfrm>
              <a:off x="0" y="0"/>
              <a:ext cx="4605267" cy="2508845"/>
            </a:xfrm>
            <a:custGeom>
              <a:avLst/>
              <a:gdLst/>
              <a:ahLst/>
              <a:cxnLst/>
              <a:rect l="l" t="t" r="r" b="b"/>
              <a:pathLst>
                <a:path w="4605267" h="2508845" extrusionOk="0">
                  <a:moveTo>
                    <a:pt x="0" y="0"/>
                  </a:moveTo>
                  <a:lnTo>
                    <a:pt x="4605267" y="0"/>
                  </a:lnTo>
                  <a:lnTo>
                    <a:pt x="4605267" y="2508845"/>
                  </a:lnTo>
                  <a:lnTo>
                    <a:pt x="0" y="2508845"/>
                  </a:lnTo>
                  <a:close/>
                </a:path>
              </a:pathLst>
            </a:custGeom>
            <a:solidFill>
              <a:srgbClr val="C1D8F6">
                <a:alpha val="45490"/>
              </a:srgbClr>
            </a:solidFill>
            <a:ln>
              <a:noFill/>
            </a:ln>
          </p:spPr>
        </p:sp>
        <p:sp>
          <p:nvSpPr>
            <p:cNvPr id="271" name="Google Shape;271;g2cebee36290_1_14"/>
            <p:cNvSpPr txBox="1"/>
            <p:nvPr/>
          </p:nvSpPr>
          <p:spPr>
            <a:xfrm>
              <a:off x="0" y="-76200"/>
              <a:ext cx="4605300" cy="258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g2cebee36290_1_14"/>
          <p:cNvSpPr txBox="1"/>
          <p:nvPr/>
        </p:nvSpPr>
        <p:spPr>
          <a:xfrm>
            <a:off x="598662" y="519289"/>
            <a:ext cx="16903500" cy="10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87" b="1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Results and Findings</a:t>
            </a:r>
            <a:endParaRPr/>
          </a:p>
        </p:txBody>
      </p:sp>
      <p:sp>
        <p:nvSpPr>
          <p:cNvPr id="273" name="Google Shape;273;g2cebee36290_1_14"/>
          <p:cNvSpPr/>
          <p:nvPr/>
        </p:nvSpPr>
        <p:spPr>
          <a:xfrm>
            <a:off x="2687225" y="2739933"/>
            <a:ext cx="3521100" cy="3700500"/>
          </a:xfrm>
          <a:prstGeom prst="ellipse">
            <a:avLst/>
          </a:prstGeom>
          <a:solidFill>
            <a:srgbClr val="0F077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$ 12 M</a:t>
            </a:r>
            <a:endParaRPr sz="6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2cebee36290_1_14"/>
          <p:cNvSpPr/>
          <p:nvPr/>
        </p:nvSpPr>
        <p:spPr>
          <a:xfrm>
            <a:off x="12739594" y="2740100"/>
            <a:ext cx="3521100" cy="3700500"/>
          </a:xfrm>
          <a:prstGeom prst="ellipse">
            <a:avLst/>
          </a:prstGeom>
          <a:solidFill>
            <a:srgbClr val="0F077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$21 M</a:t>
            </a:r>
            <a:endParaRPr sz="6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g2cebee36290_1_14"/>
          <p:cNvCxnSpPr>
            <a:stCxn id="273" idx="6"/>
            <a:endCxn id="274" idx="2"/>
          </p:cNvCxnSpPr>
          <p:nvPr/>
        </p:nvCxnSpPr>
        <p:spPr>
          <a:xfrm>
            <a:off x="6208325" y="4590183"/>
            <a:ext cx="6531300" cy="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6" name="Google Shape;276;g2cebee36290_1_14"/>
          <p:cNvSpPr txBox="1"/>
          <p:nvPr/>
        </p:nvSpPr>
        <p:spPr>
          <a:xfrm>
            <a:off x="2462225" y="7497100"/>
            <a:ext cx="39711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Current Process</a:t>
            </a:r>
            <a:endParaRPr sz="4000">
              <a:solidFill>
                <a:srgbClr val="0F077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7" name="Google Shape;277;g2cebee36290_1_14"/>
          <p:cNvSpPr txBox="1"/>
          <p:nvPr/>
        </p:nvSpPr>
        <p:spPr>
          <a:xfrm>
            <a:off x="12514600" y="7497100"/>
            <a:ext cx="39711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Suggested Process</a:t>
            </a:r>
            <a:endParaRPr sz="4000">
              <a:solidFill>
                <a:srgbClr val="0F077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8" name="Google Shape;278;g2cebee36290_1_14"/>
          <p:cNvSpPr txBox="1"/>
          <p:nvPr/>
        </p:nvSpPr>
        <p:spPr>
          <a:xfrm>
            <a:off x="7158450" y="3572450"/>
            <a:ext cx="3971100" cy="10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75 %</a:t>
            </a:r>
            <a:endParaRPr sz="6000" b="1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g2cebee36290_1_14"/>
          <p:cNvCxnSpPr/>
          <p:nvPr/>
        </p:nvCxnSpPr>
        <p:spPr>
          <a:xfrm rot="10800000">
            <a:off x="10293284" y="3195775"/>
            <a:ext cx="17100" cy="1318200"/>
          </a:xfrm>
          <a:prstGeom prst="straightConnector1">
            <a:avLst/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12"/>
          <p:cNvGrpSpPr/>
          <p:nvPr/>
        </p:nvGrpSpPr>
        <p:grpSpPr>
          <a:xfrm>
            <a:off x="401125" y="5"/>
            <a:ext cx="17485738" cy="9815157"/>
            <a:chOff x="0" y="-76200"/>
            <a:chExt cx="4605267" cy="2585045"/>
          </a:xfrm>
        </p:grpSpPr>
        <p:sp>
          <p:nvSpPr>
            <p:cNvPr id="285" name="Google Shape;285;p12"/>
            <p:cNvSpPr/>
            <p:nvPr/>
          </p:nvSpPr>
          <p:spPr>
            <a:xfrm>
              <a:off x="0" y="0"/>
              <a:ext cx="4605267" cy="2508845"/>
            </a:xfrm>
            <a:custGeom>
              <a:avLst/>
              <a:gdLst/>
              <a:ahLst/>
              <a:cxnLst/>
              <a:rect l="l" t="t" r="r" b="b"/>
              <a:pathLst>
                <a:path w="4605267" h="2508845" extrusionOk="0">
                  <a:moveTo>
                    <a:pt x="0" y="0"/>
                  </a:moveTo>
                  <a:lnTo>
                    <a:pt x="4605267" y="0"/>
                  </a:lnTo>
                  <a:lnTo>
                    <a:pt x="4605267" y="2508845"/>
                  </a:lnTo>
                  <a:lnTo>
                    <a:pt x="0" y="2508845"/>
                  </a:lnTo>
                  <a:close/>
                </a:path>
              </a:pathLst>
            </a:custGeom>
            <a:solidFill>
              <a:srgbClr val="C1D8F6">
                <a:alpha val="45490"/>
              </a:srgbClr>
            </a:solidFill>
            <a:ln>
              <a:noFill/>
            </a:ln>
          </p:spPr>
        </p:sp>
        <p:sp>
          <p:nvSpPr>
            <p:cNvPr id="286" name="Google Shape;286;p12"/>
            <p:cNvSpPr txBox="1"/>
            <p:nvPr/>
          </p:nvSpPr>
          <p:spPr>
            <a:xfrm>
              <a:off x="0" y="-76200"/>
              <a:ext cx="4605267" cy="25850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7" name="Google Shape;287;p12"/>
          <p:cNvSpPr txBox="1"/>
          <p:nvPr/>
        </p:nvSpPr>
        <p:spPr>
          <a:xfrm>
            <a:off x="598662" y="519289"/>
            <a:ext cx="16903500" cy="10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87" b="1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Results and Findings</a:t>
            </a:r>
            <a:endParaRPr/>
          </a:p>
        </p:txBody>
      </p:sp>
      <p:pic>
        <p:nvPicPr>
          <p:cNvPr id="288" name="Google Shape;2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725" y="2061513"/>
            <a:ext cx="7581900" cy="547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02900" y="2061513"/>
            <a:ext cx="7581900" cy="547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2"/>
          <p:cNvSpPr txBox="1"/>
          <p:nvPr/>
        </p:nvSpPr>
        <p:spPr>
          <a:xfrm>
            <a:off x="922650" y="8524175"/>
            <a:ext cx="16579500" cy="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Excess Cost approved for particular requests within 365 days </a:t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2593650" y="4843725"/>
            <a:ext cx="747775" cy="626500"/>
          </a:xfrm>
          <a:prstGeom prst="flowChartOffpageConnector">
            <a:avLst/>
          </a:prstGeom>
          <a:solidFill>
            <a:srgbClr val="888888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6.7 %</a:t>
            </a: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4059725" y="3682450"/>
            <a:ext cx="747775" cy="626500"/>
          </a:xfrm>
          <a:prstGeom prst="flowChartOffpageConnector">
            <a:avLst/>
          </a:prstGeom>
          <a:solidFill>
            <a:srgbClr val="888888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43.6 %</a:t>
            </a: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6152300" y="4926225"/>
            <a:ext cx="747775" cy="626500"/>
          </a:xfrm>
          <a:prstGeom prst="flowChartOffpageConnector">
            <a:avLst/>
          </a:prstGeom>
          <a:solidFill>
            <a:srgbClr val="888888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54.5 %</a:t>
            </a: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3657175" y="7538400"/>
            <a:ext cx="402550" cy="465400"/>
          </a:xfrm>
          <a:prstGeom prst="flowChartOffpageConnector">
            <a:avLst/>
          </a:prstGeom>
          <a:solidFill>
            <a:srgbClr val="888888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 txBox="1"/>
          <p:nvPr/>
        </p:nvSpPr>
        <p:spPr>
          <a:xfrm>
            <a:off x="4059713" y="7502350"/>
            <a:ext cx="3835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of Excess ($) Inventory affected</a:t>
            </a:r>
            <a:endParaRPr sz="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g2c95a558b81_1_587"/>
          <p:cNvGrpSpPr/>
          <p:nvPr/>
        </p:nvGrpSpPr>
        <p:grpSpPr>
          <a:xfrm>
            <a:off x="370327" y="101577"/>
            <a:ext cx="17506367" cy="9774360"/>
            <a:chOff x="0" y="-76200"/>
            <a:chExt cx="4610700" cy="2574300"/>
          </a:xfrm>
        </p:grpSpPr>
        <p:sp>
          <p:nvSpPr>
            <p:cNvPr id="301" name="Google Shape;301;g2c95a558b81_1_587"/>
            <p:cNvSpPr/>
            <p:nvPr/>
          </p:nvSpPr>
          <p:spPr>
            <a:xfrm>
              <a:off x="0" y="0"/>
              <a:ext cx="4610686" cy="2498008"/>
            </a:xfrm>
            <a:custGeom>
              <a:avLst/>
              <a:gdLst/>
              <a:ahLst/>
              <a:cxnLst/>
              <a:rect l="l" t="t" r="r" b="b"/>
              <a:pathLst>
                <a:path w="4610686" h="2498008" extrusionOk="0">
                  <a:moveTo>
                    <a:pt x="0" y="0"/>
                  </a:moveTo>
                  <a:lnTo>
                    <a:pt x="4610686" y="0"/>
                  </a:lnTo>
                  <a:lnTo>
                    <a:pt x="4610686" y="2498008"/>
                  </a:lnTo>
                  <a:lnTo>
                    <a:pt x="0" y="2498008"/>
                  </a:lnTo>
                  <a:close/>
                </a:path>
              </a:pathLst>
            </a:custGeom>
            <a:solidFill>
              <a:srgbClr val="C1D8F6">
                <a:alpha val="45490"/>
              </a:srgbClr>
            </a:solidFill>
            <a:ln>
              <a:noFill/>
            </a:ln>
          </p:spPr>
        </p:sp>
        <p:sp>
          <p:nvSpPr>
            <p:cNvPr id="302" name="Google Shape;302;g2c95a558b81_1_587"/>
            <p:cNvSpPr txBox="1"/>
            <p:nvPr/>
          </p:nvSpPr>
          <p:spPr>
            <a:xfrm>
              <a:off x="0" y="-76200"/>
              <a:ext cx="4610700" cy="257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3" name="Google Shape;303;g2c95a558b81_1_587"/>
          <p:cNvSpPr txBox="1"/>
          <p:nvPr/>
        </p:nvSpPr>
        <p:spPr>
          <a:xfrm>
            <a:off x="2257798" y="695325"/>
            <a:ext cx="13772400" cy="13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67" b="1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Root Cause Analysis</a:t>
            </a:r>
            <a:endParaRPr/>
          </a:p>
        </p:txBody>
      </p:sp>
      <p:pic>
        <p:nvPicPr>
          <p:cNvPr id="304" name="Google Shape;304;g2c95a558b81_1_5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6153" y="2606678"/>
            <a:ext cx="14355700" cy="649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g2c95a558b81_1_355"/>
          <p:cNvGrpSpPr/>
          <p:nvPr/>
        </p:nvGrpSpPr>
        <p:grpSpPr>
          <a:xfrm>
            <a:off x="370327" y="101577"/>
            <a:ext cx="17506367" cy="9774360"/>
            <a:chOff x="0" y="-76200"/>
            <a:chExt cx="4610700" cy="2574300"/>
          </a:xfrm>
        </p:grpSpPr>
        <p:sp>
          <p:nvSpPr>
            <p:cNvPr id="310" name="Google Shape;310;g2c95a558b81_1_355"/>
            <p:cNvSpPr/>
            <p:nvPr/>
          </p:nvSpPr>
          <p:spPr>
            <a:xfrm>
              <a:off x="0" y="0"/>
              <a:ext cx="4610686" cy="2498008"/>
            </a:xfrm>
            <a:custGeom>
              <a:avLst/>
              <a:gdLst/>
              <a:ahLst/>
              <a:cxnLst/>
              <a:rect l="l" t="t" r="r" b="b"/>
              <a:pathLst>
                <a:path w="4610686" h="2498008" extrusionOk="0">
                  <a:moveTo>
                    <a:pt x="0" y="0"/>
                  </a:moveTo>
                  <a:lnTo>
                    <a:pt x="4610686" y="0"/>
                  </a:lnTo>
                  <a:lnTo>
                    <a:pt x="4610686" y="2498008"/>
                  </a:lnTo>
                  <a:lnTo>
                    <a:pt x="0" y="2498008"/>
                  </a:lnTo>
                  <a:close/>
                </a:path>
              </a:pathLst>
            </a:custGeom>
            <a:solidFill>
              <a:srgbClr val="C1D8F6">
                <a:alpha val="45490"/>
              </a:srgbClr>
            </a:solidFill>
            <a:ln>
              <a:noFill/>
            </a:ln>
          </p:spPr>
        </p:sp>
        <p:sp>
          <p:nvSpPr>
            <p:cNvPr id="311" name="Google Shape;311;g2c95a558b81_1_355"/>
            <p:cNvSpPr txBox="1"/>
            <p:nvPr/>
          </p:nvSpPr>
          <p:spPr>
            <a:xfrm>
              <a:off x="0" y="-76200"/>
              <a:ext cx="4610700" cy="257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2" name="Google Shape;312;g2c95a558b81_1_355"/>
          <p:cNvSpPr txBox="1"/>
          <p:nvPr/>
        </p:nvSpPr>
        <p:spPr>
          <a:xfrm>
            <a:off x="2257800" y="66618"/>
            <a:ext cx="13772400" cy="13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67" b="1" dirty="0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Recommendations</a:t>
            </a:r>
            <a:endParaRPr dirty="0"/>
          </a:p>
        </p:txBody>
      </p:sp>
      <p:sp>
        <p:nvSpPr>
          <p:cNvPr id="313" name="Google Shape;313;g2c95a558b81_1_355"/>
          <p:cNvSpPr txBox="1"/>
          <p:nvPr/>
        </p:nvSpPr>
        <p:spPr>
          <a:xfrm>
            <a:off x="851025" y="2237800"/>
            <a:ext cx="16482900" cy="71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4" name="Google Shape;314;g2c95a558b81_1_355"/>
          <p:cNvGrpSpPr/>
          <p:nvPr/>
        </p:nvGrpSpPr>
        <p:grpSpPr>
          <a:xfrm>
            <a:off x="2317772" y="5650350"/>
            <a:ext cx="13529965" cy="2284811"/>
            <a:chOff x="1593000" y="2322568"/>
            <a:chExt cx="5957975" cy="643500"/>
          </a:xfrm>
        </p:grpSpPr>
        <p:sp>
          <p:nvSpPr>
            <p:cNvPr id="315" name="Google Shape;315;g2c95a558b81_1_355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g2c95a558b81_1_355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1C4587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g2c95a558b81_1_355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1C4587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g2c95a558b81_1_355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solidFill>
              <a:srgbClr val="1C4587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800" b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Stockout Rate &amp; MOQ Impact</a:t>
              </a:r>
              <a:endParaRPr sz="2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9" name="Google Shape;319;g2c95a558b81_1_355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g2c95a558b81_1_355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2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03</a:t>
              </a:r>
              <a:endParaRPr sz="52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321" name="Google Shape;321;g2c95a558b81_1_355"/>
            <p:cNvSpPr/>
            <p:nvPr/>
          </p:nvSpPr>
          <p:spPr>
            <a:xfrm>
              <a:off x="4532826" y="2323173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500">
                  <a:solidFill>
                    <a:srgbClr val="0D0D0D"/>
                  </a:solidFill>
                  <a:latin typeface="Roboto"/>
                  <a:ea typeface="Roboto"/>
                  <a:cs typeface="Roboto"/>
                  <a:sym typeface="Roboto"/>
                </a:rPr>
                <a:t>Assessing stockout frequency helps Determine if inventory levels are adequate, with MOQ influencing order frequency, batch sizes, and the balance between stock sufficiency and excess.</a:t>
              </a:r>
              <a:endParaRPr sz="11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2" name="Google Shape;322;g2c95a558b81_1_355"/>
          <p:cNvGrpSpPr/>
          <p:nvPr/>
        </p:nvGrpSpPr>
        <p:grpSpPr>
          <a:xfrm>
            <a:off x="2337185" y="8011472"/>
            <a:ext cx="13529965" cy="1755300"/>
            <a:chOff x="1593000" y="2322559"/>
            <a:chExt cx="5957975" cy="643509"/>
          </a:xfrm>
        </p:grpSpPr>
        <p:sp>
          <p:nvSpPr>
            <p:cNvPr id="323" name="Google Shape;323;g2c95a558b81_1_355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g2c95a558b81_1_355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1C4587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g2c95a558b81_1_355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1C4587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g2c95a558b81_1_355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g2c95a558b81_1_355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2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04</a:t>
              </a:r>
              <a:endParaRPr sz="52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328" name="Google Shape;328;g2c95a558b81_1_355"/>
            <p:cNvSpPr/>
            <p:nvPr/>
          </p:nvSpPr>
          <p:spPr>
            <a:xfrm>
              <a:off x="4532837" y="2322559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500">
                  <a:solidFill>
                    <a:srgbClr val="0D0D0D"/>
                  </a:solidFill>
                  <a:latin typeface="Roboto"/>
                  <a:ea typeface="Roboto"/>
                  <a:cs typeface="Roboto"/>
                  <a:sym typeface="Roboto"/>
                </a:rPr>
                <a:t>Gather feedback on product availability and order fulfillment to assess the impact of excess inventory on customer satisfaction.</a:t>
              </a:r>
              <a:endParaRPr sz="11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9" name="Google Shape;329;g2c95a558b81_1_355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solidFill>
              <a:srgbClr val="1C4587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800" b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Customer Satisfaction Metrics</a:t>
              </a:r>
              <a:endParaRPr sz="2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0" name="Google Shape;330;g2c95a558b81_1_355"/>
          <p:cNvGrpSpPr/>
          <p:nvPr/>
        </p:nvGrpSpPr>
        <p:grpSpPr>
          <a:xfrm>
            <a:off x="2317782" y="3828066"/>
            <a:ext cx="13529965" cy="1755275"/>
            <a:chOff x="1593000" y="2322568"/>
            <a:chExt cx="5957975" cy="643500"/>
          </a:xfrm>
        </p:grpSpPr>
        <p:sp>
          <p:nvSpPr>
            <p:cNvPr id="331" name="Google Shape;331;g2c95a558b81_1_355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g2c95a558b81_1_355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1C4587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g2c95a558b81_1_355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1C4587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g2c95a558b81_1_355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g2c95a558b81_1_355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2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02</a:t>
              </a:r>
              <a:endParaRPr sz="52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336" name="Google Shape;336;g2c95a558b81_1_355"/>
            <p:cNvSpPr/>
            <p:nvPr/>
          </p:nvSpPr>
          <p:spPr>
            <a:xfrm>
              <a:off x="4532826" y="2323168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500">
                  <a:solidFill>
                    <a:srgbClr val="0D0D0D"/>
                  </a:solidFill>
                  <a:latin typeface="Roboto"/>
                  <a:ea typeface="Roboto"/>
                  <a:cs typeface="Roboto"/>
                  <a:sym typeface="Roboto"/>
                </a:rPr>
                <a:t>Analyze the accuracy of demand forecasts compared to actual demand data by including more necessary data like MoQ.</a:t>
              </a:r>
              <a:endParaRPr sz="250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7" name="Google Shape;337;g2c95a558b81_1_355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solidFill>
              <a:srgbClr val="1C4587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800" b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Demand Forecasting Accuracy</a:t>
              </a:r>
              <a:endParaRPr sz="2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8" name="Google Shape;338;g2c95a558b81_1_355"/>
          <p:cNvGrpSpPr/>
          <p:nvPr/>
        </p:nvGrpSpPr>
        <p:grpSpPr>
          <a:xfrm>
            <a:off x="2317782" y="2041125"/>
            <a:ext cx="13529965" cy="1755326"/>
            <a:chOff x="1593000" y="2322568"/>
            <a:chExt cx="5957975" cy="643519"/>
          </a:xfrm>
        </p:grpSpPr>
        <p:sp>
          <p:nvSpPr>
            <p:cNvPr id="339" name="Google Shape;339;g2c95a558b81_1_355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g2c95a558b81_1_355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1C4587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341" name="Google Shape;341;g2c95a558b81_1_355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1C4587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g2c95a558b81_1_355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g2c95a558b81_1_355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2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01</a:t>
              </a:r>
              <a:endParaRPr sz="52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344" name="Google Shape;344;g2c95a558b81_1_355"/>
            <p:cNvSpPr/>
            <p:nvPr/>
          </p:nvSpPr>
          <p:spPr>
            <a:xfrm>
              <a:off x="4508221" y="2323787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500">
                  <a:solidFill>
                    <a:srgbClr val="0D0D0D"/>
                  </a:solidFill>
                  <a:latin typeface="Roboto"/>
                  <a:ea typeface="Roboto"/>
                  <a:cs typeface="Roboto"/>
                  <a:sym typeface="Roboto"/>
                </a:rPr>
                <a:t>Evaluate supplier performance using lead times, on-time delivery, and quality metrics.</a:t>
              </a:r>
              <a:endParaRPr sz="11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45" name="Google Shape;345;g2c95a558b81_1_355"/>
          <p:cNvSpPr/>
          <p:nvPr/>
        </p:nvSpPr>
        <p:spPr>
          <a:xfrm>
            <a:off x="3990256" y="2321981"/>
            <a:ext cx="4407000" cy="13527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Supplier Performance Metrics</a:t>
            </a:r>
            <a:endParaRPr sz="28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g2ce4dc960c2_1_25"/>
          <p:cNvGrpSpPr/>
          <p:nvPr/>
        </p:nvGrpSpPr>
        <p:grpSpPr>
          <a:xfrm>
            <a:off x="370340" y="101577"/>
            <a:ext cx="17506367" cy="9774360"/>
            <a:chOff x="0" y="-76200"/>
            <a:chExt cx="4610700" cy="2574300"/>
          </a:xfrm>
        </p:grpSpPr>
        <p:sp>
          <p:nvSpPr>
            <p:cNvPr id="351" name="Google Shape;351;g2ce4dc960c2_1_25"/>
            <p:cNvSpPr/>
            <p:nvPr/>
          </p:nvSpPr>
          <p:spPr>
            <a:xfrm>
              <a:off x="0" y="0"/>
              <a:ext cx="4610686" cy="2498008"/>
            </a:xfrm>
            <a:custGeom>
              <a:avLst/>
              <a:gdLst/>
              <a:ahLst/>
              <a:cxnLst/>
              <a:rect l="l" t="t" r="r" b="b"/>
              <a:pathLst>
                <a:path w="4610686" h="2498008" extrusionOk="0">
                  <a:moveTo>
                    <a:pt x="0" y="0"/>
                  </a:moveTo>
                  <a:lnTo>
                    <a:pt x="4610686" y="0"/>
                  </a:lnTo>
                  <a:lnTo>
                    <a:pt x="4610686" y="2498008"/>
                  </a:lnTo>
                  <a:lnTo>
                    <a:pt x="0" y="2498008"/>
                  </a:lnTo>
                  <a:close/>
                </a:path>
              </a:pathLst>
            </a:custGeom>
            <a:solidFill>
              <a:srgbClr val="C1D8F6">
                <a:alpha val="45490"/>
              </a:srgbClr>
            </a:solidFill>
            <a:ln>
              <a:noFill/>
            </a:ln>
          </p:spPr>
        </p:sp>
        <p:sp>
          <p:nvSpPr>
            <p:cNvPr id="352" name="Google Shape;352;g2ce4dc960c2_1_25"/>
            <p:cNvSpPr txBox="1"/>
            <p:nvPr/>
          </p:nvSpPr>
          <p:spPr>
            <a:xfrm>
              <a:off x="0" y="-76200"/>
              <a:ext cx="4610700" cy="257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3" name="Google Shape;353;g2ce4dc960c2_1_25"/>
          <p:cNvSpPr txBox="1">
            <a:spLocks noGrp="1"/>
          </p:cNvSpPr>
          <p:nvPr>
            <p:ph type="title"/>
          </p:nvPr>
        </p:nvSpPr>
        <p:spPr>
          <a:xfrm>
            <a:off x="1009573" y="666450"/>
            <a:ext cx="162279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67" b="1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What We Learnt…</a:t>
            </a:r>
            <a:endParaRPr sz="8767" b="1">
              <a:solidFill>
                <a:srgbClr val="0F077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354" name="Google Shape;354;g2ce4dc960c2_1_25"/>
          <p:cNvGrpSpPr/>
          <p:nvPr/>
        </p:nvGrpSpPr>
        <p:grpSpPr>
          <a:xfrm>
            <a:off x="5392045" y="5013202"/>
            <a:ext cx="4332000" cy="4332000"/>
            <a:chOff x="3614360" y="410488"/>
            <a:chExt cx="2166000" cy="2166000"/>
          </a:xfrm>
        </p:grpSpPr>
        <p:sp>
          <p:nvSpPr>
            <p:cNvPr id="355" name="Google Shape;355;g2ce4dc960c2_1_25"/>
            <p:cNvSpPr/>
            <p:nvPr/>
          </p:nvSpPr>
          <p:spPr>
            <a:xfrm>
              <a:off x="3614360" y="410488"/>
              <a:ext cx="2166000" cy="2166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g2ce4dc960c2_1_25"/>
            <p:cNvSpPr txBox="1"/>
            <p:nvPr/>
          </p:nvSpPr>
          <p:spPr>
            <a:xfrm>
              <a:off x="3822563" y="986338"/>
              <a:ext cx="1749600" cy="10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chemeClr val="lt1"/>
                  </a:solidFill>
                  <a:latin typeface="Times"/>
                  <a:ea typeface="Times"/>
                  <a:cs typeface="Times"/>
                  <a:sym typeface="Times"/>
                </a:rPr>
                <a:t>Importance of active and robust demand forecasting in supply chain.</a:t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7" name="Google Shape;357;g2ce4dc960c2_1_25"/>
          <p:cNvGrpSpPr/>
          <p:nvPr/>
        </p:nvGrpSpPr>
        <p:grpSpPr>
          <a:xfrm>
            <a:off x="1403407" y="2149115"/>
            <a:ext cx="4332000" cy="4332000"/>
            <a:chOff x="2542241" y="1493908"/>
            <a:chExt cx="2166000" cy="2166000"/>
          </a:xfrm>
        </p:grpSpPr>
        <p:sp>
          <p:nvSpPr>
            <p:cNvPr id="358" name="Google Shape;358;g2ce4dc960c2_1_25"/>
            <p:cNvSpPr/>
            <p:nvPr/>
          </p:nvSpPr>
          <p:spPr>
            <a:xfrm>
              <a:off x="2542241" y="1493908"/>
              <a:ext cx="2166000" cy="2166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g2ce4dc960c2_1_25"/>
            <p:cNvSpPr txBox="1"/>
            <p:nvPr/>
          </p:nvSpPr>
          <p:spPr>
            <a:xfrm>
              <a:off x="2657588" y="2131113"/>
              <a:ext cx="1935300" cy="891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457200" lvl="0" indent="0" algn="l" rtl="0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chemeClr val="lt1"/>
                  </a:solidFill>
                  <a:latin typeface="Times"/>
                  <a:ea typeface="Times"/>
                  <a:cs typeface="Times"/>
                  <a:sym typeface="Times"/>
                </a:rPr>
                <a:t>The various facets of Automated Testing Equipment industry.</a:t>
              </a:r>
              <a:endParaRPr sz="28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0" name="Google Shape;360;g2ce4dc960c2_1_25"/>
          <p:cNvGrpSpPr/>
          <p:nvPr/>
        </p:nvGrpSpPr>
        <p:grpSpPr>
          <a:xfrm>
            <a:off x="9288361" y="2227291"/>
            <a:ext cx="4332000" cy="4332000"/>
            <a:chOff x="3614356" y="2566908"/>
            <a:chExt cx="2166000" cy="2166000"/>
          </a:xfrm>
        </p:grpSpPr>
        <p:sp>
          <p:nvSpPr>
            <p:cNvPr id="361" name="Google Shape;361;g2ce4dc960c2_1_25"/>
            <p:cNvSpPr/>
            <p:nvPr/>
          </p:nvSpPr>
          <p:spPr>
            <a:xfrm>
              <a:off x="3614356" y="2566908"/>
              <a:ext cx="2166000" cy="2166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g2ce4dc960c2_1_25"/>
            <p:cNvSpPr txBox="1"/>
            <p:nvPr/>
          </p:nvSpPr>
          <p:spPr>
            <a:xfrm>
              <a:off x="3737363" y="3196313"/>
              <a:ext cx="1908900" cy="888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457200" lvl="0" indent="0" algn="l" rtl="0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chemeClr val="lt1"/>
                  </a:solidFill>
                  <a:latin typeface="Times"/>
                  <a:ea typeface="Times"/>
                  <a:cs typeface="Times"/>
                  <a:sym typeface="Times"/>
                </a:rPr>
                <a:t>The variables pivotal in understanding and forecasting demand</a:t>
              </a:r>
              <a:endParaRPr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3" name="Google Shape;363;g2ce4dc960c2_1_25"/>
          <p:cNvGrpSpPr/>
          <p:nvPr/>
        </p:nvGrpSpPr>
        <p:grpSpPr>
          <a:xfrm>
            <a:off x="13093963" y="5133823"/>
            <a:ext cx="4332000" cy="4332000"/>
            <a:chOff x="4701894" y="1493874"/>
            <a:chExt cx="2166000" cy="2166000"/>
          </a:xfrm>
        </p:grpSpPr>
        <p:sp>
          <p:nvSpPr>
            <p:cNvPr id="364" name="Google Shape;364;g2ce4dc960c2_1_25"/>
            <p:cNvSpPr/>
            <p:nvPr/>
          </p:nvSpPr>
          <p:spPr>
            <a:xfrm>
              <a:off x="4701894" y="1493874"/>
              <a:ext cx="2166000" cy="2166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g2ce4dc960c2_1_25"/>
            <p:cNvSpPr txBox="1"/>
            <p:nvPr/>
          </p:nvSpPr>
          <p:spPr>
            <a:xfrm>
              <a:off x="4844650" y="2167525"/>
              <a:ext cx="1929000" cy="75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457200" lvl="0" indent="0" algn="l" rtl="0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chemeClr val="lt1"/>
                  </a:solidFill>
                  <a:latin typeface="Times"/>
                  <a:ea typeface="Times"/>
                  <a:cs typeface="Times"/>
                  <a:sym typeface="Times"/>
                </a:rPr>
                <a:t>Efficiency of a multi-layered approval process.</a:t>
              </a:r>
              <a:endParaRPr sz="28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p16"/>
          <p:cNvGrpSpPr/>
          <p:nvPr/>
        </p:nvGrpSpPr>
        <p:grpSpPr>
          <a:xfrm>
            <a:off x="0" y="-289322"/>
            <a:ext cx="18288000" cy="10576322"/>
            <a:chOff x="0" y="-76200"/>
            <a:chExt cx="4816593" cy="2785533"/>
          </a:xfrm>
        </p:grpSpPr>
        <p:sp>
          <p:nvSpPr>
            <p:cNvPr id="371" name="Google Shape;371;p16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1D8F6">
                <a:alpha val="45490"/>
              </a:srgbClr>
            </a:solidFill>
            <a:ln>
              <a:noFill/>
            </a:ln>
          </p:spPr>
        </p:sp>
        <p:sp>
          <p:nvSpPr>
            <p:cNvPr id="372" name="Google Shape;372;p16"/>
            <p:cNvSpPr txBox="1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3" name="Google Shape;373;p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4000"/>
            </a:blip>
            <a:stretch>
              <a:fillRect l="-13071" r="-16982"/>
            </a:stretch>
          </a:blipFill>
          <a:ln>
            <a:noFill/>
          </a:ln>
        </p:spPr>
      </p:sp>
      <p:sp>
        <p:nvSpPr>
          <p:cNvPr id="374" name="Google Shape;374;p16"/>
          <p:cNvSpPr txBox="1"/>
          <p:nvPr/>
        </p:nvSpPr>
        <p:spPr>
          <a:xfrm>
            <a:off x="3038436" y="3024519"/>
            <a:ext cx="12211128" cy="2361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99" b="1" i="0" u="none" strike="noStrike" cap="none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oogle Shape;379;p17"/>
          <p:cNvGrpSpPr/>
          <p:nvPr/>
        </p:nvGrpSpPr>
        <p:grpSpPr>
          <a:xfrm>
            <a:off x="0" y="-289322"/>
            <a:ext cx="18288000" cy="10576322"/>
            <a:chOff x="0" y="-76200"/>
            <a:chExt cx="4816593" cy="2785533"/>
          </a:xfrm>
        </p:grpSpPr>
        <p:sp>
          <p:nvSpPr>
            <p:cNvPr id="380" name="Google Shape;380;p17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1D8F6">
                <a:alpha val="45490"/>
              </a:srgbClr>
            </a:solidFill>
            <a:ln>
              <a:noFill/>
            </a:ln>
          </p:spPr>
        </p:sp>
        <p:sp>
          <p:nvSpPr>
            <p:cNvPr id="381" name="Google Shape;381;p17"/>
            <p:cNvSpPr txBox="1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2" name="Google Shape;382;p17"/>
          <p:cNvGrpSpPr/>
          <p:nvPr/>
        </p:nvGrpSpPr>
        <p:grpSpPr>
          <a:xfrm rot="2700000">
            <a:off x="15949841" y="3134516"/>
            <a:ext cx="5170455" cy="5540296"/>
            <a:chOff x="0" y="-76200"/>
            <a:chExt cx="1990112" cy="2132465"/>
          </a:xfrm>
        </p:grpSpPr>
        <p:sp>
          <p:nvSpPr>
            <p:cNvPr id="383" name="Google Shape;383;p17"/>
            <p:cNvSpPr/>
            <p:nvPr/>
          </p:nvSpPr>
          <p:spPr>
            <a:xfrm>
              <a:off x="0" y="0"/>
              <a:ext cx="1990112" cy="2056265"/>
            </a:xfrm>
            <a:custGeom>
              <a:avLst/>
              <a:gdLst/>
              <a:ahLst/>
              <a:cxnLst/>
              <a:rect l="l" t="t" r="r" b="b"/>
              <a:pathLst>
                <a:path w="1990112" h="2056265" extrusionOk="0">
                  <a:moveTo>
                    <a:pt x="0" y="0"/>
                  </a:moveTo>
                  <a:lnTo>
                    <a:pt x="1990112" y="0"/>
                  </a:lnTo>
                  <a:lnTo>
                    <a:pt x="1990112" y="2056265"/>
                  </a:lnTo>
                  <a:lnTo>
                    <a:pt x="0" y="2056265"/>
                  </a:lnTo>
                  <a:close/>
                </a:path>
              </a:pathLst>
            </a:custGeom>
            <a:solidFill>
              <a:srgbClr val="7BA2D6"/>
            </a:solidFill>
            <a:ln>
              <a:noFill/>
            </a:ln>
          </p:spPr>
        </p:sp>
        <p:sp>
          <p:nvSpPr>
            <p:cNvPr id="384" name="Google Shape;384;p17"/>
            <p:cNvSpPr txBox="1"/>
            <p:nvPr/>
          </p:nvSpPr>
          <p:spPr>
            <a:xfrm>
              <a:off x="0" y="-76200"/>
              <a:ext cx="1990112" cy="21324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5" name="Google Shape;385;p17"/>
          <p:cNvGrpSpPr/>
          <p:nvPr/>
        </p:nvGrpSpPr>
        <p:grpSpPr>
          <a:xfrm rot="8100000">
            <a:off x="13897341" y="-3396904"/>
            <a:ext cx="4298664" cy="6598810"/>
            <a:chOff x="0" y="-76200"/>
            <a:chExt cx="1654560" cy="2539888"/>
          </a:xfrm>
        </p:grpSpPr>
        <p:sp>
          <p:nvSpPr>
            <p:cNvPr id="386" name="Google Shape;386;p17"/>
            <p:cNvSpPr/>
            <p:nvPr/>
          </p:nvSpPr>
          <p:spPr>
            <a:xfrm>
              <a:off x="0" y="0"/>
              <a:ext cx="1654560" cy="2463688"/>
            </a:xfrm>
            <a:custGeom>
              <a:avLst/>
              <a:gdLst/>
              <a:ahLst/>
              <a:cxnLst/>
              <a:rect l="l" t="t" r="r" b="b"/>
              <a:pathLst>
                <a:path w="1654560" h="2463688" extrusionOk="0">
                  <a:moveTo>
                    <a:pt x="0" y="0"/>
                  </a:moveTo>
                  <a:lnTo>
                    <a:pt x="1654560" y="0"/>
                  </a:lnTo>
                  <a:lnTo>
                    <a:pt x="1654560" y="2463688"/>
                  </a:lnTo>
                  <a:lnTo>
                    <a:pt x="0" y="2463688"/>
                  </a:lnTo>
                  <a:close/>
                </a:path>
              </a:pathLst>
            </a:custGeom>
            <a:solidFill>
              <a:srgbClr val="0C57BD"/>
            </a:solidFill>
            <a:ln>
              <a:noFill/>
            </a:ln>
          </p:spPr>
        </p:sp>
        <p:sp>
          <p:nvSpPr>
            <p:cNvPr id="387" name="Google Shape;387;p17"/>
            <p:cNvSpPr txBox="1"/>
            <p:nvPr/>
          </p:nvSpPr>
          <p:spPr>
            <a:xfrm>
              <a:off x="0" y="-76200"/>
              <a:ext cx="1654560" cy="2539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8" name="Google Shape;388;p17"/>
          <p:cNvGrpSpPr/>
          <p:nvPr/>
        </p:nvGrpSpPr>
        <p:grpSpPr>
          <a:xfrm rot="8100000">
            <a:off x="8837442" y="8093613"/>
            <a:ext cx="8823272" cy="6218417"/>
            <a:chOff x="0" y="-76200"/>
            <a:chExt cx="3396085" cy="2393474"/>
          </a:xfrm>
        </p:grpSpPr>
        <p:sp>
          <p:nvSpPr>
            <p:cNvPr id="389" name="Google Shape;389;p17"/>
            <p:cNvSpPr/>
            <p:nvPr/>
          </p:nvSpPr>
          <p:spPr>
            <a:xfrm>
              <a:off x="0" y="0"/>
              <a:ext cx="3396085" cy="2317274"/>
            </a:xfrm>
            <a:custGeom>
              <a:avLst/>
              <a:gdLst/>
              <a:ahLst/>
              <a:cxnLst/>
              <a:rect l="l" t="t" r="r" b="b"/>
              <a:pathLst>
                <a:path w="3396085" h="2317274" extrusionOk="0">
                  <a:moveTo>
                    <a:pt x="0" y="0"/>
                  </a:moveTo>
                  <a:lnTo>
                    <a:pt x="3396085" y="0"/>
                  </a:lnTo>
                  <a:lnTo>
                    <a:pt x="3396085" y="2317274"/>
                  </a:lnTo>
                  <a:lnTo>
                    <a:pt x="0" y="2317274"/>
                  </a:lnTo>
                  <a:close/>
                </a:path>
              </a:pathLst>
            </a:custGeom>
            <a:solidFill>
              <a:srgbClr val="0F0774">
                <a:alpha val="91764"/>
              </a:srgbClr>
            </a:solidFill>
            <a:ln>
              <a:noFill/>
            </a:ln>
          </p:spPr>
        </p:sp>
        <p:sp>
          <p:nvSpPr>
            <p:cNvPr id="390" name="Google Shape;390;p17"/>
            <p:cNvSpPr txBox="1"/>
            <p:nvPr/>
          </p:nvSpPr>
          <p:spPr>
            <a:xfrm>
              <a:off x="0" y="-76200"/>
              <a:ext cx="3396085" cy="23934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1" name="Google Shape;391;p17"/>
          <p:cNvSpPr txBox="1"/>
          <p:nvPr/>
        </p:nvSpPr>
        <p:spPr>
          <a:xfrm>
            <a:off x="276416" y="213736"/>
            <a:ext cx="13764000" cy="3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44" b="1" i="0" u="none" strike="noStrike" cap="none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Thank </a:t>
            </a:r>
            <a:r>
              <a:rPr lang="en-US" sz="9044" b="1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you for</a:t>
            </a:r>
            <a:endParaRPr sz="9044" b="1">
              <a:solidFill>
                <a:srgbClr val="0F0774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44" b="1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the Opportunity !!</a:t>
            </a:r>
            <a:r>
              <a:rPr lang="en-US" sz="9044" b="1" i="0" u="none" strike="noStrike" cap="none">
                <a:solidFill>
                  <a:srgbClr val="0F0774"/>
                </a:solidFill>
                <a:latin typeface="Times"/>
                <a:ea typeface="Times"/>
                <a:cs typeface="Times"/>
                <a:sym typeface="Times"/>
              </a:rPr>
              <a:t>!</a:t>
            </a:r>
            <a:endParaRPr sz="300"/>
          </a:p>
        </p:txBody>
      </p:sp>
      <p:pic>
        <p:nvPicPr>
          <p:cNvPr id="392" name="Google Shape;3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0825" y="4311500"/>
            <a:ext cx="6334776" cy="494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17"/>
          <p:cNvPicPr preferRelativeResize="0"/>
          <p:nvPr/>
        </p:nvPicPr>
        <p:blipFill rotWithShape="1">
          <a:blip r:embed="rId4">
            <a:alphaModFix/>
          </a:blip>
          <a:srcRect l="5953" r="6626"/>
          <a:stretch/>
        </p:blipFill>
        <p:spPr>
          <a:xfrm>
            <a:off x="512000" y="4311500"/>
            <a:ext cx="5537576" cy="494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712</Words>
  <Application>Microsoft Office PowerPoint</Application>
  <PresentationFormat>Custom</PresentationFormat>
  <Paragraphs>122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Calibri</vt:lpstr>
      <vt:lpstr>Arial</vt:lpstr>
      <vt:lpstr>Times</vt:lpstr>
      <vt:lpstr>Times New Roman</vt:lpstr>
      <vt:lpstr>Roboto Thin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We Learnt…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Divya Katragadda</cp:lastModifiedBy>
  <cp:revision>1</cp:revision>
  <dcterms:created xsi:type="dcterms:W3CDTF">2006-08-16T00:00:00Z</dcterms:created>
  <dcterms:modified xsi:type="dcterms:W3CDTF">2024-04-26T18:11:41Z</dcterms:modified>
</cp:coreProperties>
</file>